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6" r:id="rId4"/>
  </p:sldMasterIdLst>
  <p:notesMasterIdLst>
    <p:notesMasterId r:id="rId17"/>
  </p:notesMasterIdLst>
  <p:handoutMasterIdLst>
    <p:handoutMasterId r:id="rId18"/>
  </p:handoutMasterIdLst>
  <p:sldIdLst>
    <p:sldId id="1830" r:id="rId5"/>
    <p:sldId id="1829" r:id="rId6"/>
    <p:sldId id="1844" r:id="rId7"/>
    <p:sldId id="257" r:id="rId8"/>
    <p:sldId id="1833" r:id="rId9"/>
    <p:sldId id="1845" r:id="rId10"/>
    <p:sldId id="1846" r:id="rId11"/>
    <p:sldId id="1843" r:id="rId12"/>
    <p:sldId id="1847" r:id="rId13"/>
    <p:sldId id="1848" r:id="rId14"/>
    <p:sldId id="1849" r:id="rId15"/>
    <p:sldId id="185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32B61"/>
    <a:srgbClr val="125C99"/>
    <a:srgbClr val="EA9EB9"/>
    <a:srgbClr val="165C9A"/>
    <a:srgbClr val="34D1BF"/>
    <a:srgbClr val="B7DAF7"/>
    <a:srgbClr val="D7D6D8"/>
    <a:srgbClr val="000721"/>
    <a:srgbClr val="908A97"/>
    <a:srgbClr val="9B98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50"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veshwaran N" userId="ac612a6b-cc17-4d26-a73c-bc5c4d089756" providerId="ADAL" clId="{0276774A-20A9-4574-B24A-3B9183AD6C10}"/>
    <pc:docChg chg="addSld modSld sldOrd">
      <pc:chgData name="Sarveshwaran N" userId="ac612a6b-cc17-4d26-a73c-bc5c4d089756" providerId="ADAL" clId="{0276774A-20A9-4574-B24A-3B9183AD6C10}" dt="2025-12-02T10:08:36.698" v="18" actId="1076"/>
      <pc:docMkLst>
        <pc:docMk/>
      </pc:docMkLst>
      <pc:sldChg chg="ord">
        <pc:chgData name="Sarveshwaran N" userId="ac612a6b-cc17-4d26-a73c-bc5c4d089756" providerId="ADAL" clId="{0276774A-20A9-4574-B24A-3B9183AD6C10}" dt="2025-12-02T10:08:15.428" v="1"/>
        <pc:sldMkLst>
          <pc:docMk/>
          <pc:sldMk cId="3099171970" sldId="1829"/>
        </pc:sldMkLst>
      </pc:sldChg>
      <pc:sldChg chg="modSp new mod">
        <pc:chgData name="Sarveshwaran N" userId="ac612a6b-cc17-4d26-a73c-bc5c4d089756" providerId="ADAL" clId="{0276774A-20A9-4574-B24A-3B9183AD6C10}" dt="2025-12-02T10:08:36.698" v="18" actId="1076"/>
        <pc:sldMkLst>
          <pc:docMk/>
          <pc:sldMk cId="3486386716" sldId="1850"/>
        </pc:sldMkLst>
        <pc:spChg chg="mod">
          <ac:chgData name="Sarveshwaran N" userId="ac612a6b-cc17-4d26-a73c-bc5c4d089756" providerId="ADAL" clId="{0276774A-20A9-4574-B24A-3B9183AD6C10}" dt="2025-12-02T10:08:36.698" v="18" actId="1076"/>
          <ac:spMkLst>
            <pc:docMk/>
            <pc:sldMk cId="3486386716" sldId="1850"/>
            <ac:spMk id="2" creationId="{2A15A0DF-BD0C-1177-8369-AD071901A28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9B5162-31D5-D27B-CB8B-8469F66660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14EB8204-F427-3587-2023-45F3DF3CAD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D0B005-AE3F-4DA2-9559-980D1360C114}" type="datetimeFigureOut">
              <a:rPr lang="en-SG" smtClean="0"/>
              <a:t>2/12/2025</a:t>
            </a:fld>
            <a:endParaRPr lang="en-SG"/>
          </a:p>
        </p:txBody>
      </p:sp>
      <p:sp>
        <p:nvSpPr>
          <p:cNvPr id="4" name="Footer Placeholder 3">
            <a:extLst>
              <a:ext uri="{FF2B5EF4-FFF2-40B4-BE49-F238E27FC236}">
                <a16:creationId xmlns:a16="http://schemas.microsoft.com/office/drawing/2014/main" id="{B1FF136A-E7CF-98B4-480E-A32119CB16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02167F81-B274-2766-0143-5AF2148974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42E51-4BA4-41E8-8E38-E80BA45B03F6}" type="slidenum">
              <a:rPr lang="en-SG" smtClean="0"/>
              <a:t>‹#›</a:t>
            </a:fld>
            <a:endParaRPr lang="en-SG"/>
          </a:p>
        </p:txBody>
      </p:sp>
    </p:spTree>
    <p:extLst>
      <p:ext uri="{BB962C8B-B14F-4D97-AF65-F5344CB8AC3E}">
        <p14:creationId xmlns:p14="http://schemas.microsoft.com/office/powerpoint/2010/main" val="11558915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A0547B-158A-49BE-8714-80B0BEEFC392}" type="datetimeFigureOut">
              <a:rPr lang="en-SG" smtClean="0"/>
              <a:t>2/12/2025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1C9C6-E11A-4277-9787-7297B88DF7E0}" type="slidenum">
              <a:rPr lang="en-SG" smtClean="0"/>
              <a:t>‹#›</a:t>
            </a:fld>
            <a:endParaRPr lang="en-SG"/>
          </a:p>
        </p:txBody>
      </p:sp>
    </p:spTree>
    <p:extLst>
      <p:ext uri="{BB962C8B-B14F-4D97-AF65-F5344CB8AC3E}">
        <p14:creationId xmlns:p14="http://schemas.microsoft.com/office/powerpoint/2010/main" val="2715609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D1C9C6-E11A-4277-9787-7297B88DF7E0}" type="slidenum">
              <a:rPr lang="en-SG" smtClean="0"/>
              <a:t>7</a:t>
            </a:fld>
            <a:endParaRPr lang="en-SG"/>
          </a:p>
        </p:txBody>
      </p:sp>
    </p:spTree>
    <p:extLst>
      <p:ext uri="{BB962C8B-B14F-4D97-AF65-F5344CB8AC3E}">
        <p14:creationId xmlns:p14="http://schemas.microsoft.com/office/powerpoint/2010/main" val="651256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D1C9C6-E11A-4277-9787-7297B88DF7E0}" type="slidenum">
              <a:rPr lang="en-SG" smtClean="0"/>
              <a:t>10</a:t>
            </a:fld>
            <a:endParaRPr lang="en-SG"/>
          </a:p>
        </p:txBody>
      </p:sp>
    </p:spTree>
    <p:extLst>
      <p:ext uri="{BB962C8B-B14F-4D97-AF65-F5344CB8AC3E}">
        <p14:creationId xmlns:p14="http://schemas.microsoft.com/office/powerpoint/2010/main" val="2927492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8D1EC-B89D-BE36-0FF8-78119313FF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19B8F2-1CA4-450D-2BFE-1445015A42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CF72A89-D268-4F26-4E73-00F8F31634B5}"/>
              </a:ext>
            </a:extLst>
          </p:cNvPr>
          <p:cNvSpPr>
            <a:spLocks noGrp="1"/>
          </p:cNvSpPr>
          <p:nvPr>
            <p:ph type="dt" sz="half" idx="10"/>
          </p:nvPr>
        </p:nvSpPr>
        <p:spPr/>
        <p:txBody>
          <a:bodyPr/>
          <a:lstStyle/>
          <a:p>
            <a:fld id="{5923F103-BC34-4FE4-A40E-EDDEECFDA5D0}" type="datetimeFigureOut">
              <a:rPr lang="en-US" smtClean="0"/>
              <a:pPr/>
              <a:t>12/2/2025</a:t>
            </a:fld>
            <a:endParaRPr lang="en-US" dirty="0"/>
          </a:p>
        </p:txBody>
      </p:sp>
      <p:sp>
        <p:nvSpPr>
          <p:cNvPr id="5" name="Footer Placeholder 4">
            <a:extLst>
              <a:ext uri="{FF2B5EF4-FFF2-40B4-BE49-F238E27FC236}">
                <a16:creationId xmlns:a16="http://schemas.microsoft.com/office/drawing/2014/main" id="{75904927-509D-7F26-11B1-3CBE2DC54D05}"/>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77C737B9-53B4-DE2F-F7C5-E460789FD6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a:extLst>
              <a:ext uri="{FF2B5EF4-FFF2-40B4-BE49-F238E27FC236}">
                <a16:creationId xmlns:a16="http://schemas.microsoft.com/office/drawing/2014/main" id="{12DC41CA-AF3B-E081-BD78-7BDB0088BAC9}"/>
              </a:ext>
            </a:extLst>
          </p:cNvPr>
          <p:cNvSpPr/>
          <p:nvPr userDrawn="1"/>
        </p:nvSpPr>
        <p:spPr>
          <a:xfrm>
            <a:off x="0" y="6398324"/>
            <a:ext cx="12188825" cy="457200"/>
          </a:xfrm>
          <a:prstGeom prst="rect">
            <a:avLst/>
          </a:prstGeom>
          <a:gradFill>
            <a:gsLst>
              <a:gs pos="0">
                <a:srgbClr val="00A4A6"/>
              </a:gs>
              <a:gs pos="74000">
                <a:srgbClr val="125C99"/>
              </a:gs>
              <a:gs pos="83000">
                <a:srgbClr val="125C99"/>
              </a:gs>
              <a:gs pos="100000">
                <a:srgbClr val="125C99"/>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22823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47E78-B6E9-22B7-A893-1594ADFA42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265910-437D-CC74-7206-A3947FEDB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721162-A377-66C0-BD8B-5605D900FB68}"/>
              </a:ext>
            </a:extLst>
          </p:cNvPr>
          <p:cNvSpPr>
            <a:spLocks noGrp="1"/>
          </p:cNvSpPr>
          <p:nvPr>
            <p:ph type="dt" sz="half" idx="10"/>
          </p:nvPr>
        </p:nvSpPr>
        <p:spPr/>
        <p:txBody>
          <a:bodyPr/>
          <a:lstStyle/>
          <a:p>
            <a:fld id="{19C9CA7B-DFD4-44B5-8C60-D14B8CD1FB59}" type="datetimeFigureOut">
              <a:rPr lang="en-US" smtClean="0"/>
              <a:t>12/2/2025</a:t>
            </a:fld>
            <a:endParaRPr lang="en-US" dirty="0"/>
          </a:p>
        </p:txBody>
      </p:sp>
      <p:sp>
        <p:nvSpPr>
          <p:cNvPr id="5" name="Footer Placeholder 4">
            <a:extLst>
              <a:ext uri="{FF2B5EF4-FFF2-40B4-BE49-F238E27FC236}">
                <a16:creationId xmlns:a16="http://schemas.microsoft.com/office/drawing/2014/main" id="{54DAF628-3BB3-6586-F9DD-982F2BBC18E5}"/>
              </a:ext>
            </a:extLst>
          </p:cNvPr>
          <p:cNvSpPr>
            <a:spLocks noGrp="1"/>
          </p:cNvSpPr>
          <p:nvPr>
            <p:ph type="ftr" sz="quarter" idx="11"/>
          </p:nvPr>
        </p:nvSpPr>
        <p:spPr/>
        <p:txBody>
          <a:bodyPr/>
          <a:lstStyle/>
          <a:p>
            <a:r>
              <a:rPr lang="it-IT"/>
              <a:t>DA 204o: Data Science in Practice</a:t>
            </a:r>
            <a:endParaRPr lang="en-SG"/>
          </a:p>
        </p:txBody>
      </p:sp>
      <p:sp>
        <p:nvSpPr>
          <p:cNvPr id="6" name="Slide Number Placeholder 5">
            <a:extLst>
              <a:ext uri="{FF2B5EF4-FFF2-40B4-BE49-F238E27FC236}">
                <a16:creationId xmlns:a16="http://schemas.microsoft.com/office/drawing/2014/main" id="{454AC076-71D1-FB09-5077-92AA7085248A}"/>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3567361443"/>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9E857-DBDD-E784-4FB5-91535F2ADB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34AEBD-723D-30C1-5A5F-937D8AC731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2260BE-E08F-C357-F67E-CBAAF6957965}"/>
              </a:ext>
            </a:extLst>
          </p:cNvPr>
          <p:cNvSpPr>
            <a:spLocks noGrp="1"/>
          </p:cNvSpPr>
          <p:nvPr>
            <p:ph type="dt" sz="half" idx="10"/>
          </p:nvPr>
        </p:nvSpPr>
        <p:spPr/>
        <p:txBody>
          <a:bodyPr/>
          <a:lstStyle/>
          <a:p>
            <a:fld id="{F34E6425-0181-43F2-84FC-787E803FD2F8}" type="datetimeFigureOut">
              <a:rPr lang="en-US" smtClean="0"/>
              <a:t>12/2/2025</a:t>
            </a:fld>
            <a:endParaRPr lang="en-US" dirty="0"/>
          </a:p>
        </p:txBody>
      </p:sp>
      <p:sp>
        <p:nvSpPr>
          <p:cNvPr id="5" name="Footer Placeholder 4">
            <a:extLst>
              <a:ext uri="{FF2B5EF4-FFF2-40B4-BE49-F238E27FC236}">
                <a16:creationId xmlns:a16="http://schemas.microsoft.com/office/drawing/2014/main" id="{30DEBCFF-1B79-7331-5FE4-B29A85949580}"/>
              </a:ext>
            </a:extLst>
          </p:cNvPr>
          <p:cNvSpPr>
            <a:spLocks noGrp="1"/>
          </p:cNvSpPr>
          <p:nvPr>
            <p:ph type="ftr" sz="quarter" idx="11"/>
          </p:nvPr>
        </p:nvSpPr>
        <p:spPr/>
        <p:txBody>
          <a:bodyPr/>
          <a:lstStyle/>
          <a:p>
            <a:r>
              <a:rPr lang="it-IT"/>
              <a:t>DA 204o: Data Science in Practice</a:t>
            </a:r>
            <a:endParaRPr lang="en-SG"/>
          </a:p>
        </p:txBody>
      </p:sp>
      <p:sp>
        <p:nvSpPr>
          <p:cNvPr id="6" name="Slide Number Placeholder 5">
            <a:extLst>
              <a:ext uri="{FF2B5EF4-FFF2-40B4-BE49-F238E27FC236}">
                <a16:creationId xmlns:a16="http://schemas.microsoft.com/office/drawing/2014/main" id="{37A0284A-9008-C41F-A634-D14F500B05C3}"/>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2650364554"/>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9FF91-B920-A488-45D9-E165FF3DDF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583F2-35E6-0813-0201-BB9962AEFE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FAD943-1A18-4C2D-4610-3837DD8B95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CDB985-B1C4-5886-22D9-8B7A22E96958}"/>
              </a:ext>
            </a:extLst>
          </p:cNvPr>
          <p:cNvSpPr>
            <a:spLocks noGrp="1"/>
          </p:cNvSpPr>
          <p:nvPr>
            <p:ph type="dt" sz="half" idx="10"/>
          </p:nvPr>
        </p:nvSpPr>
        <p:spPr/>
        <p:txBody>
          <a:bodyPr/>
          <a:lstStyle/>
          <a:p>
            <a:fld id="{3BDB8791-F1B0-41E7-B7FD-A781E65C4266}" type="datetimeFigureOut">
              <a:rPr lang="en-US" smtClean="0"/>
              <a:t>12/2/2025</a:t>
            </a:fld>
            <a:endParaRPr lang="en-US" dirty="0"/>
          </a:p>
        </p:txBody>
      </p:sp>
      <p:sp>
        <p:nvSpPr>
          <p:cNvPr id="6" name="Footer Placeholder 5">
            <a:extLst>
              <a:ext uri="{FF2B5EF4-FFF2-40B4-BE49-F238E27FC236}">
                <a16:creationId xmlns:a16="http://schemas.microsoft.com/office/drawing/2014/main" id="{5C9EDE62-8BD4-12B4-88B4-C175A4E2F193}"/>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087961A5-78A2-CAB4-9E8B-99248698113C}"/>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2631176876"/>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218AC-94C2-7550-295F-7575A45ABE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A9F841-CDBB-E44B-79EA-42B016317A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795D3C-2750-FEBD-01CD-AB823CEF2D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3EA0CE-C3D7-278E-7395-6F1D565DF7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3FC675-222D-EA2E-4AA0-956D6149FD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9CC314F-49DC-65C3-07E3-0B90ADC8ED46}"/>
              </a:ext>
            </a:extLst>
          </p:cNvPr>
          <p:cNvSpPr>
            <a:spLocks noGrp="1"/>
          </p:cNvSpPr>
          <p:nvPr>
            <p:ph type="dt" sz="half" idx="10"/>
          </p:nvPr>
        </p:nvSpPr>
        <p:spPr/>
        <p:txBody>
          <a:bodyPr/>
          <a:lstStyle/>
          <a:p>
            <a:fld id="{5FDD63B2-E120-4ED8-B27B-C685F510A5FE}" type="datetimeFigureOut">
              <a:rPr lang="en-US" smtClean="0"/>
              <a:t>12/2/2025</a:t>
            </a:fld>
            <a:endParaRPr lang="en-US" dirty="0"/>
          </a:p>
        </p:txBody>
      </p:sp>
      <p:sp>
        <p:nvSpPr>
          <p:cNvPr id="8" name="Footer Placeholder 7">
            <a:extLst>
              <a:ext uri="{FF2B5EF4-FFF2-40B4-BE49-F238E27FC236}">
                <a16:creationId xmlns:a16="http://schemas.microsoft.com/office/drawing/2014/main" id="{60CF07B4-0B7E-2B1A-3E9B-2E1FEEF4DAC3}"/>
              </a:ext>
            </a:extLst>
          </p:cNvPr>
          <p:cNvSpPr>
            <a:spLocks noGrp="1"/>
          </p:cNvSpPr>
          <p:nvPr>
            <p:ph type="ftr" sz="quarter" idx="11"/>
          </p:nvPr>
        </p:nvSpPr>
        <p:spPr/>
        <p:txBody>
          <a:bodyPr/>
          <a:lstStyle/>
          <a:p>
            <a:r>
              <a:rPr lang="it-IT"/>
              <a:t>DA 204o: Data Science in Practice</a:t>
            </a:r>
            <a:endParaRPr lang="en-SG"/>
          </a:p>
        </p:txBody>
      </p:sp>
      <p:sp>
        <p:nvSpPr>
          <p:cNvPr id="9" name="Slide Number Placeholder 8">
            <a:extLst>
              <a:ext uri="{FF2B5EF4-FFF2-40B4-BE49-F238E27FC236}">
                <a16:creationId xmlns:a16="http://schemas.microsoft.com/office/drawing/2014/main" id="{FF2A238F-6439-94EE-E9BE-C2ACF1DB1664}"/>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1777523608"/>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43136-383D-AF54-CFED-1BCD2C5198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303B88-69E0-425C-CBA4-96E6D3C9BE30}"/>
              </a:ext>
            </a:extLst>
          </p:cNvPr>
          <p:cNvSpPr>
            <a:spLocks noGrp="1"/>
          </p:cNvSpPr>
          <p:nvPr>
            <p:ph type="dt" sz="half" idx="10"/>
          </p:nvPr>
        </p:nvSpPr>
        <p:spPr/>
        <p:txBody>
          <a:bodyPr/>
          <a:lstStyle/>
          <a:p>
            <a:fld id="{7AA18ACC-A947-437B-A130-35BD54FDF1E9}" type="datetimeFigureOut">
              <a:rPr lang="en-US" smtClean="0"/>
              <a:t>12/2/2025</a:t>
            </a:fld>
            <a:endParaRPr lang="en-US" dirty="0"/>
          </a:p>
        </p:txBody>
      </p:sp>
      <p:sp>
        <p:nvSpPr>
          <p:cNvPr id="4" name="Footer Placeholder 3">
            <a:extLst>
              <a:ext uri="{FF2B5EF4-FFF2-40B4-BE49-F238E27FC236}">
                <a16:creationId xmlns:a16="http://schemas.microsoft.com/office/drawing/2014/main" id="{E7CDBF3F-D611-9543-8102-EE2849E3E5CA}"/>
              </a:ext>
            </a:extLst>
          </p:cNvPr>
          <p:cNvSpPr>
            <a:spLocks noGrp="1"/>
          </p:cNvSpPr>
          <p:nvPr>
            <p:ph type="ftr" sz="quarter" idx="11"/>
          </p:nvPr>
        </p:nvSpPr>
        <p:spPr/>
        <p:txBody>
          <a:bodyPr/>
          <a:lstStyle/>
          <a:p>
            <a:r>
              <a:rPr lang="it-IT"/>
              <a:t>DA 204o: Data Science in Practice</a:t>
            </a:r>
            <a:endParaRPr lang="en-SG"/>
          </a:p>
        </p:txBody>
      </p:sp>
      <p:sp>
        <p:nvSpPr>
          <p:cNvPr id="5" name="Slide Number Placeholder 4">
            <a:extLst>
              <a:ext uri="{FF2B5EF4-FFF2-40B4-BE49-F238E27FC236}">
                <a16:creationId xmlns:a16="http://schemas.microsoft.com/office/drawing/2014/main" id="{047B7F0D-622C-B82B-59DB-7A239CF29459}"/>
              </a:ext>
            </a:extLst>
          </p:cNvPr>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1131520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F3B310-ED13-6236-1226-9D4462E476A5}"/>
              </a:ext>
            </a:extLst>
          </p:cNvPr>
          <p:cNvSpPr>
            <a:spLocks noGrp="1"/>
          </p:cNvSpPr>
          <p:nvPr>
            <p:ph type="dt" sz="half" idx="10"/>
          </p:nvPr>
        </p:nvSpPr>
        <p:spPr/>
        <p:txBody>
          <a:bodyPr/>
          <a:lstStyle/>
          <a:p>
            <a:fld id="{7C8D7E02-BCB8-4D50-A234-369438C08659}" type="datetimeFigureOut">
              <a:rPr lang="en-US" smtClean="0"/>
              <a:t>12/2/2025</a:t>
            </a:fld>
            <a:endParaRPr lang="en-US" dirty="0"/>
          </a:p>
        </p:txBody>
      </p:sp>
      <p:sp>
        <p:nvSpPr>
          <p:cNvPr id="3" name="Footer Placeholder 2">
            <a:extLst>
              <a:ext uri="{FF2B5EF4-FFF2-40B4-BE49-F238E27FC236}">
                <a16:creationId xmlns:a16="http://schemas.microsoft.com/office/drawing/2014/main" id="{18346420-1CA8-942C-2BF3-F16B34414059}"/>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45795FB3-BDB5-CEDB-3331-0BD7813B81CA}"/>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545751349"/>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D50B9-34BF-442A-C18C-DD464C651C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05B1ED-DFAC-F2E4-C105-EB9866B456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B04956-CB5E-A2A2-4AE1-5E089CCD19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AB243-8821-F556-0CB4-F862E702736E}"/>
              </a:ext>
            </a:extLst>
          </p:cNvPr>
          <p:cNvSpPr>
            <a:spLocks noGrp="1"/>
          </p:cNvSpPr>
          <p:nvPr>
            <p:ph type="dt" sz="half" idx="10"/>
          </p:nvPr>
        </p:nvSpPr>
        <p:spPr/>
        <p:txBody>
          <a:bodyPr/>
          <a:lstStyle/>
          <a:p>
            <a:fld id="{76E86A4C-8E40-4F87-A4F0-01A0687C5742}" type="datetimeFigureOut">
              <a:rPr lang="en-US" smtClean="0"/>
              <a:t>12/2/2025</a:t>
            </a:fld>
            <a:endParaRPr lang="en-US" dirty="0"/>
          </a:p>
        </p:txBody>
      </p:sp>
      <p:sp>
        <p:nvSpPr>
          <p:cNvPr id="6" name="Footer Placeholder 5">
            <a:extLst>
              <a:ext uri="{FF2B5EF4-FFF2-40B4-BE49-F238E27FC236}">
                <a16:creationId xmlns:a16="http://schemas.microsoft.com/office/drawing/2014/main" id="{D12D1259-30C7-98AB-8E55-280A57D93FCC}"/>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C9E52491-3130-2159-32BC-6C1336593894}"/>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3895944315"/>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4E8E0-C3EF-C450-B245-2EEC668A3B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E1A541-1914-9CD3-A425-D97F159A43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372B4B-3804-1D16-B591-D19E8F1DA3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465896-007E-AB92-6286-265C9F7F7A36}"/>
              </a:ext>
            </a:extLst>
          </p:cNvPr>
          <p:cNvSpPr>
            <a:spLocks noGrp="1"/>
          </p:cNvSpPr>
          <p:nvPr>
            <p:ph type="dt" sz="half" idx="10"/>
          </p:nvPr>
        </p:nvSpPr>
        <p:spPr/>
        <p:txBody>
          <a:bodyPr/>
          <a:lstStyle/>
          <a:p>
            <a:fld id="{35E72C73-2D91-4E12-BA25-F0AA0C03599B}" type="datetimeFigureOut">
              <a:rPr lang="en-US" smtClean="0"/>
              <a:t>12/2/2025</a:t>
            </a:fld>
            <a:endParaRPr lang="en-US" dirty="0"/>
          </a:p>
        </p:txBody>
      </p:sp>
      <p:sp>
        <p:nvSpPr>
          <p:cNvPr id="6" name="Footer Placeholder 5">
            <a:extLst>
              <a:ext uri="{FF2B5EF4-FFF2-40B4-BE49-F238E27FC236}">
                <a16:creationId xmlns:a16="http://schemas.microsoft.com/office/drawing/2014/main" id="{B03FF66D-8366-42ED-281A-0CE94A422AC3}"/>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C4486DAD-8BEA-2113-D962-44BA1637B0FE}"/>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526570991"/>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569DC-91CF-904B-FB3B-61B716E23F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6687CA-C9DC-E58A-33A2-F4B7E075DE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D8AE97-4CB2-7581-ECE8-407A6E2E6D60}"/>
              </a:ext>
            </a:extLst>
          </p:cNvPr>
          <p:cNvSpPr>
            <a:spLocks noGrp="1"/>
          </p:cNvSpPr>
          <p:nvPr>
            <p:ph type="dt" sz="half" idx="10"/>
          </p:nvPr>
        </p:nvSpPr>
        <p:spPr/>
        <p:txBody>
          <a:bodyPr/>
          <a:lstStyle/>
          <a:p>
            <a:fld id="{53086D93-FCAC-47E0-A2EE-787E62CA814C}" type="datetimeFigureOut">
              <a:rPr lang="en-US" smtClean="0"/>
              <a:t>12/2/2025</a:t>
            </a:fld>
            <a:endParaRPr lang="en-US" dirty="0"/>
          </a:p>
        </p:txBody>
      </p:sp>
      <p:sp>
        <p:nvSpPr>
          <p:cNvPr id="5" name="Footer Placeholder 4">
            <a:extLst>
              <a:ext uri="{FF2B5EF4-FFF2-40B4-BE49-F238E27FC236}">
                <a16:creationId xmlns:a16="http://schemas.microsoft.com/office/drawing/2014/main" id="{C0BD9602-6701-DECE-7D52-A0E1B445E139}"/>
              </a:ext>
            </a:extLst>
          </p:cNvPr>
          <p:cNvSpPr>
            <a:spLocks noGrp="1"/>
          </p:cNvSpPr>
          <p:nvPr>
            <p:ph type="ftr" sz="quarter" idx="11"/>
          </p:nvPr>
        </p:nvSpPr>
        <p:spPr/>
        <p:txBody>
          <a:bodyPr/>
          <a:lstStyle/>
          <a:p>
            <a:r>
              <a:rPr lang="it-IT"/>
              <a:t>DA 204o: Data Science in Practice</a:t>
            </a:r>
            <a:endParaRPr lang="en-SG"/>
          </a:p>
        </p:txBody>
      </p:sp>
      <p:sp>
        <p:nvSpPr>
          <p:cNvPr id="6" name="Slide Number Placeholder 5">
            <a:extLst>
              <a:ext uri="{FF2B5EF4-FFF2-40B4-BE49-F238E27FC236}">
                <a16:creationId xmlns:a16="http://schemas.microsoft.com/office/drawing/2014/main" id="{328C8C50-F268-F3D8-C27E-6151A7D78255}"/>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2574417243"/>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FCC89D-5986-DA10-BFC1-19B6E3B654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0140DD-146E-FB44-5F92-BD2FAEE5F1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0FC062-855E-E2DE-221E-103C4B80F69D}"/>
              </a:ext>
            </a:extLst>
          </p:cNvPr>
          <p:cNvSpPr>
            <a:spLocks noGrp="1"/>
          </p:cNvSpPr>
          <p:nvPr>
            <p:ph type="dt" sz="half" idx="10"/>
          </p:nvPr>
        </p:nvSpPr>
        <p:spPr/>
        <p:txBody>
          <a:bodyPr/>
          <a:lstStyle/>
          <a:p>
            <a:fld id="{CDA879A6-0FD0-4734-A311-86BFCA472E6E}" type="datetimeFigureOut">
              <a:rPr lang="en-US" smtClean="0"/>
              <a:t>12/2/2025</a:t>
            </a:fld>
            <a:endParaRPr lang="en-US" dirty="0"/>
          </a:p>
        </p:txBody>
      </p:sp>
      <p:sp>
        <p:nvSpPr>
          <p:cNvPr id="5" name="Footer Placeholder 4">
            <a:extLst>
              <a:ext uri="{FF2B5EF4-FFF2-40B4-BE49-F238E27FC236}">
                <a16:creationId xmlns:a16="http://schemas.microsoft.com/office/drawing/2014/main" id="{597A1277-A5ED-3090-85C1-C16DCC83D038}"/>
              </a:ext>
            </a:extLst>
          </p:cNvPr>
          <p:cNvSpPr>
            <a:spLocks noGrp="1"/>
          </p:cNvSpPr>
          <p:nvPr>
            <p:ph type="ftr" sz="quarter" idx="11"/>
          </p:nvPr>
        </p:nvSpPr>
        <p:spPr/>
        <p:txBody>
          <a:bodyPr/>
          <a:lstStyle/>
          <a:p>
            <a:r>
              <a:rPr lang="it-IT"/>
              <a:t>DA 204o: Data Science in Practice</a:t>
            </a:r>
            <a:endParaRPr lang="en-SG"/>
          </a:p>
        </p:txBody>
      </p:sp>
      <p:sp>
        <p:nvSpPr>
          <p:cNvPr id="6" name="Slide Number Placeholder 5">
            <a:extLst>
              <a:ext uri="{FF2B5EF4-FFF2-40B4-BE49-F238E27FC236}">
                <a16:creationId xmlns:a16="http://schemas.microsoft.com/office/drawing/2014/main" id="{0342DE4F-D51D-E051-CCCB-FD31BB894B7C}"/>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171184711"/>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buClr>
                <a:srgbClr val="C32B61"/>
              </a:buClr>
              <a:defRPr>
                <a:latin typeface="Arial Nova" panose="020B0504020202020204" pitchFamily="34" charset="0"/>
              </a:defRPr>
            </a:lvl1pPr>
            <a:lvl2pPr>
              <a:buClr>
                <a:srgbClr val="C32B61"/>
              </a:buClr>
              <a:defRPr>
                <a:latin typeface="Arial Nova" panose="020B0504020202020204" pitchFamily="34" charset="0"/>
              </a:defRPr>
            </a:lvl2pPr>
            <a:lvl3pPr>
              <a:buClr>
                <a:srgbClr val="C32B61"/>
              </a:buClr>
              <a:defRPr>
                <a:latin typeface="Arial Nova" panose="020B0504020202020204" pitchFamily="34" charset="0"/>
              </a:defRPr>
            </a:lvl3pPr>
            <a:lvl4pPr>
              <a:buClr>
                <a:srgbClr val="C32B61"/>
              </a:buClr>
              <a:defRPr>
                <a:latin typeface="Arial Nova" panose="020B0504020202020204" pitchFamily="34" charset="0"/>
              </a:defRPr>
            </a:lvl4pPr>
            <a:lvl5pPr>
              <a:buClr>
                <a:srgbClr val="C32B61"/>
              </a:buClr>
              <a:defRPr>
                <a:latin typeface="Arial Nova" panose="020B05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551C70ED-94CA-A642-FD1E-522A6990F33D}"/>
              </a:ext>
            </a:extLst>
          </p:cNvPr>
          <p:cNvSpPr>
            <a:spLocks noGrp="1"/>
          </p:cNvSpPr>
          <p:nvPr>
            <p:ph type="title"/>
          </p:nvPr>
        </p:nvSpPr>
        <p:spPr/>
        <p:txBody>
          <a:bodyPr/>
          <a:lstStyle>
            <a:lvl1pPr>
              <a:defRPr>
                <a:solidFill>
                  <a:srgbClr val="125C99"/>
                </a:solidFill>
              </a:defRPr>
            </a:lvl1pPr>
          </a:lstStyle>
          <a:p>
            <a:r>
              <a:rPr lang="en-US"/>
              <a:t>Click to edit Master title style</a:t>
            </a:r>
            <a:endParaRPr lang="en-SG"/>
          </a:p>
        </p:txBody>
      </p:sp>
      <p:sp>
        <p:nvSpPr>
          <p:cNvPr id="11" name="Footer Placeholder 10">
            <a:extLst>
              <a:ext uri="{FF2B5EF4-FFF2-40B4-BE49-F238E27FC236}">
                <a16:creationId xmlns:a16="http://schemas.microsoft.com/office/drawing/2014/main" id="{F14EF858-2983-E647-2178-E92591E7E8FD}"/>
              </a:ext>
            </a:extLst>
          </p:cNvPr>
          <p:cNvSpPr>
            <a:spLocks noGrp="1"/>
          </p:cNvSpPr>
          <p:nvPr>
            <p:ph type="ftr" sz="quarter" idx="11"/>
          </p:nvPr>
        </p:nvSpPr>
        <p:spPr/>
        <p:txBody>
          <a:bodyPr/>
          <a:lstStyle/>
          <a:p>
            <a:r>
              <a:rPr lang="it-IT"/>
              <a:t>DA 204o: Data Science in Practice</a:t>
            </a:r>
            <a:endParaRPr lang="en-SG"/>
          </a:p>
        </p:txBody>
      </p:sp>
      <p:sp>
        <p:nvSpPr>
          <p:cNvPr id="12" name="Slide Number Placeholder 11">
            <a:extLst>
              <a:ext uri="{FF2B5EF4-FFF2-40B4-BE49-F238E27FC236}">
                <a16:creationId xmlns:a16="http://schemas.microsoft.com/office/drawing/2014/main" id="{2C483A77-9139-666A-419A-D5D0E83B91ED}"/>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8810708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genda" userDrawn="1">
  <p:cSld name="Agenda">
    <p:spTree>
      <p:nvGrpSpPr>
        <p:cNvPr id="1" name="Shape 23"/>
        <p:cNvGrpSpPr/>
        <p:nvPr/>
      </p:nvGrpSpPr>
      <p:grpSpPr>
        <a:xfrm>
          <a:off x="0" y="0"/>
          <a:ext cx="0" cy="0"/>
          <a:chOff x="0" y="0"/>
          <a:chExt cx="0" cy="0"/>
        </a:xfrm>
      </p:grpSpPr>
      <p:sp>
        <p:nvSpPr>
          <p:cNvPr id="24" name="Google Shape;24;p5"/>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hasCustomPrompt="1"/>
          </p:nvPr>
        </p:nvSpPr>
        <p:spPr>
          <a:xfrm>
            <a:off x="415600" y="0"/>
            <a:ext cx="11360800" cy="950567"/>
          </a:xfrm>
          <a:prstGeom prst="rect">
            <a:avLst/>
          </a:prstGeom>
        </p:spPr>
        <p:txBody>
          <a:bodyPr spcFirstLastPara="1" wrap="square" lIns="91425" tIns="91425" rIns="91425" bIns="91425" anchor="ctr" anchorCtr="0">
            <a:normAutofit/>
          </a:bodyPr>
          <a:lstStyle>
            <a:lvl1pPr lvl="0" rtl="0">
              <a:spcBef>
                <a:spcPts val="0"/>
              </a:spcBef>
              <a:spcAft>
                <a:spcPts val="0"/>
              </a:spcAft>
              <a:buSzPts val="2200"/>
              <a:buNone/>
              <a:defRPr sz="2933"/>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dirty="0"/>
              <a:t>Agenda</a:t>
            </a:r>
            <a:endParaRPr dirty="0"/>
          </a:p>
        </p:txBody>
      </p:sp>
      <p:sp>
        <p:nvSpPr>
          <p:cNvPr id="26" name="Google Shape;26;p5"/>
          <p:cNvSpPr txBox="1">
            <a:spLocks noGrp="1"/>
          </p:cNvSpPr>
          <p:nvPr>
            <p:ph type="body" idx="1"/>
          </p:nvPr>
        </p:nvSpPr>
        <p:spPr>
          <a:xfrm>
            <a:off x="415600" y="1592979"/>
            <a:ext cx="11360800" cy="5134620"/>
          </a:xfrm>
          <a:prstGeom prst="rect">
            <a:avLst/>
          </a:prstGeom>
        </p:spPr>
        <p:txBody>
          <a:bodyPr spcFirstLastPara="1" wrap="square" lIns="91425" tIns="91425" rIns="91425" bIns="91425" anchor="t" anchorCtr="0">
            <a:normAutofit/>
          </a:bodyPr>
          <a:lstStyle>
            <a:lvl1pPr marL="609585" lvl="0" indent="-440256" rtl="0">
              <a:spcBef>
                <a:spcPts val="0"/>
              </a:spcBef>
              <a:spcAft>
                <a:spcPts val="0"/>
              </a:spcAft>
              <a:buSzPts val="1600"/>
              <a:buChar char="●"/>
              <a:defRPr sz="2133"/>
            </a:lvl1pPr>
            <a:lvl2pPr marL="1219170" lvl="1" indent="-423323" rtl="0">
              <a:spcBef>
                <a:spcPts val="0"/>
              </a:spcBef>
              <a:spcAft>
                <a:spcPts val="0"/>
              </a:spcAft>
              <a:buSzPts val="1400"/>
              <a:buChar char="○"/>
              <a:defRPr/>
            </a:lvl2pPr>
            <a:lvl3pPr marL="1828754" lvl="2" indent="-423323" rtl="0">
              <a:spcBef>
                <a:spcPts val="0"/>
              </a:spcBef>
              <a:spcAft>
                <a:spcPts val="0"/>
              </a:spcAft>
              <a:buSzPts val="1400"/>
              <a:buChar char="■"/>
              <a:defRPr/>
            </a:lvl3pPr>
            <a:lvl4pPr marL="2438339" lvl="3" indent="-423323" rtl="0">
              <a:spcBef>
                <a:spcPts val="0"/>
              </a:spcBef>
              <a:spcAft>
                <a:spcPts val="0"/>
              </a:spcAft>
              <a:buSzPts val="1400"/>
              <a:buChar char="●"/>
              <a:defRPr/>
            </a:lvl4pPr>
            <a:lvl5pPr marL="3047924" lvl="4" indent="-423323" rtl="0">
              <a:spcBef>
                <a:spcPts val="0"/>
              </a:spcBef>
              <a:spcAft>
                <a:spcPts val="0"/>
              </a:spcAft>
              <a:buSzPts val="1400"/>
              <a:buChar char="○"/>
              <a:defRPr/>
            </a:lvl5pPr>
            <a:lvl6pPr marL="3657509" lvl="5" indent="-423323" rtl="0">
              <a:spcBef>
                <a:spcPts val="0"/>
              </a:spcBef>
              <a:spcAft>
                <a:spcPts val="0"/>
              </a:spcAft>
              <a:buSzPts val="1400"/>
              <a:buChar char="■"/>
              <a:defRPr/>
            </a:lvl6pPr>
            <a:lvl7pPr marL="4267093" lvl="6" indent="-423323" rtl="0">
              <a:spcBef>
                <a:spcPts val="0"/>
              </a:spcBef>
              <a:spcAft>
                <a:spcPts val="0"/>
              </a:spcAft>
              <a:buSzPts val="1400"/>
              <a:buChar char="●"/>
              <a:defRPr/>
            </a:lvl7pPr>
            <a:lvl8pPr marL="4876678" lvl="7" indent="-423323" rtl="0">
              <a:spcBef>
                <a:spcPts val="0"/>
              </a:spcBef>
              <a:spcAft>
                <a:spcPts val="0"/>
              </a:spcAft>
              <a:buSzPts val="1400"/>
              <a:buChar char="○"/>
              <a:defRPr/>
            </a:lvl8pPr>
            <a:lvl9pPr marL="5486263" lvl="8" indent="-423323" rtl="0">
              <a:spcBef>
                <a:spcPts val="0"/>
              </a:spcBef>
              <a:spcAft>
                <a:spcPts val="0"/>
              </a:spcAft>
              <a:buSzPts val="1400"/>
              <a:buChar char="■"/>
              <a:defRPr/>
            </a:lvl9pPr>
          </a:lstStyle>
          <a:p>
            <a:endParaRPr dirty="0"/>
          </a:p>
        </p:txBody>
      </p:sp>
      <p:sp>
        <p:nvSpPr>
          <p:cNvPr id="27" name="Google Shape;27;p5"/>
          <p:cNvSpPr txBox="1">
            <a:spLocks noGrp="1"/>
          </p:cNvSpPr>
          <p:nvPr>
            <p:ph type="sldNum" idx="12"/>
          </p:nvPr>
        </p:nvSpPr>
        <p:spPr>
          <a:xfrm>
            <a:off x="11776397" y="6485324"/>
            <a:ext cx="415215" cy="257099"/>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fld id="{00000000-1234-1234-1234-123412341234}" type="slidenum">
              <a:rPr lang="en" smtClean="0"/>
              <a:pPr/>
              <a:t>‹#›</a:t>
            </a:fld>
            <a:endParaRPr lang="en"/>
          </a:p>
        </p:txBody>
      </p:sp>
      <p:sp>
        <p:nvSpPr>
          <p:cNvPr id="10" name="Subtitle 1">
            <a:extLst>
              <a:ext uri="{FF2B5EF4-FFF2-40B4-BE49-F238E27FC236}">
                <a16:creationId xmlns:a16="http://schemas.microsoft.com/office/drawing/2014/main" id="{0D296A4F-FF01-A06E-7AAA-3D203B6399A4}"/>
              </a:ext>
            </a:extLst>
          </p:cNvPr>
          <p:cNvSpPr>
            <a:spLocks noGrp="1"/>
          </p:cNvSpPr>
          <p:nvPr>
            <p:ph type="subTitle" idx="13"/>
          </p:nvPr>
        </p:nvSpPr>
        <p:spPr>
          <a:xfrm>
            <a:off x="415599" y="950568"/>
            <a:ext cx="11360799" cy="642413"/>
          </a:xfrm>
        </p:spPr>
        <p:txBody>
          <a:bodyPr tIns="0" anchor="t">
            <a:normAutofit/>
          </a:bodyPr>
          <a:lstStyle>
            <a:lvl1pPr marL="0" indent="0" algn="l">
              <a:lnSpc>
                <a:spcPct val="100000"/>
              </a:lnSpc>
              <a:buNone/>
              <a:defRPr sz="2133"/>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dirty="0"/>
              <a:t>Click to edit Master subtitle style</a:t>
            </a:r>
          </a:p>
        </p:txBody>
      </p:sp>
    </p:spTree>
    <p:extLst>
      <p:ext uri="{BB962C8B-B14F-4D97-AF65-F5344CB8AC3E}">
        <p14:creationId xmlns:p14="http://schemas.microsoft.com/office/powerpoint/2010/main" val="2166631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C4EB3-88BD-4DCC-DF7D-C9D2F172D3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16FF60-EAD0-D3D2-EE13-EA26B4A1ED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C86851-7B32-D7A9-C607-A142E59448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E451C3-0FF4-47C4-B829-773ADF60F88C}" type="datetimeFigureOut">
              <a:rPr lang="en-US" smtClean="0"/>
              <a:t>12/2/2025</a:t>
            </a:fld>
            <a:endParaRPr lang="en-US" dirty="0"/>
          </a:p>
        </p:txBody>
      </p:sp>
      <p:sp>
        <p:nvSpPr>
          <p:cNvPr id="5" name="Footer Placeholder 4">
            <a:extLst>
              <a:ext uri="{FF2B5EF4-FFF2-40B4-BE49-F238E27FC236}">
                <a16:creationId xmlns:a16="http://schemas.microsoft.com/office/drawing/2014/main" id="{F09ADAAE-3125-2123-AC01-F9576E79D0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it-IT"/>
              <a:t>DA 204o: Data Science in Practice</a:t>
            </a:r>
            <a:endParaRPr lang="en-SG"/>
          </a:p>
        </p:txBody>
      </p:sp>
      <p:sp>
        <p:nvSpPr>
          <p:cNvPr id="6" name="Slide Number Placeholder 5">
            <a:extLst>
              <a:ext uri="{FF2B5EF4-FFF2-40B4-BE49-F238E27FC236}">
                <a16:creationId xmlns:a16="http://schemas.microsoft.com/office/drawing/2014/main" id="{D104182F-2DFA-E71B-049D-0FF3C57F9D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1758FF-0BF1-4103-A89A-38EC40E85429}" type="slidenum">
              <a:rPr lang="en-SG" smtClean="0"/>
              <a:pPr/>
              <a:t>‹#›</a:t>
            </a:fld>
            <a:endParaRPr lang="en-SG"/>
          </a:p>
        </p:txBody>
      </p:sp>
      <p:sp>
        <p:nvSpPr>
          <p:cNvPr id="7" name="Rectangle 6">
            <a:extLst>
              <a:ext uri="{FF2B5EF4-FFF2-40B4-BE49-F238E27FC236}">
                <a16:creationId xmlns:a16="http://schemas.microsoft.com/office/drawing/2014/main" id="{DD23E84D-1DB8-C2DD-91FB-76D87ADFDB05}"/>
              </a:ext>
            </a:extLst>
          </p:cNvPr>
          <p:cNvSpPr/>
          <p:nvPr userDrawn="1"/>
        </p:nvSpPr>
        <p:spPr>
          <a:xfrm>
            <a:off x="-106787" y="0"/>
            <a:ext cx="213574" cy="736847"/>
          </a:xfrm>
          <a:prstGeom prst="rect">
            <a:avLst/>
          </a:prstGeom>
          <a:solidFill>
            <a:srgbClr val="C32B6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64448944"/>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777" r:id="rId12"/>
    <p:sldLayoutId id="2147483888"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4000">
              <a:srgbClr val="B2DEF3"/>
            </a:gs>
            <a:gs pos="78000">
              <a:schemeClr val="accent1">
                <a:lumMod val="5000"/>
                <a:lumOff val="95000"/>
              </a:schemeClr>
            </a:gs>
            <a:gs pos="0">
              <a:schemeClr val="tx2">
                <a:lumMod val="75000"/>
                <a:lumOff val="25000"/>
              </a:schemeClr>
            </a:gs>
            <a:gs pos="83000">
              <a:schemeClr val="accent1">
                <a:lumMod val="45000"/>
                <a:lumOff val="55000"/>
              </a:schemeClr>
            </a:gs>
            <a:gs pos="100000">
              <a:schemeClr val="tx2">
                <a:lumMod val="75000"/>
                <a:lumOff val="25000"/>
              </a:schemeClr>
            </a:gs>
          </a:gsLst>
          <a:lin ang="5400000" scaled="1"/>
        </a:gra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934FECA-92A3-28E4-B8BD-9B487E45A707}"/>
              </a:ext>
            </a:extLst>
          </p:cNvPr>
          <p:cNvSpPr>
            <a:spLocks noGrp="1"/>
          </p:cNvSpPr>
          <p:nvPr>
            <p:ph type="ftr" sz="quarter" idx="11"/>
          </p:nvPr>
        </p:nvSpPr>
        <p:spPr/>
        <p:txBody>
          <a:bodyPr/>
          <a:lstStyle/>
          <a:p>
            <a:r>
              <a:rPr lang="it-IT"/>
              <a:t>DA 204o: Data Science in Practice</a:t>
            </a:r>
            <a:endParaRPr lang="en-SG" dirty="0"/>
          </a:p>
        </p:txBody>
      </p:sp>
      <p:sp>
        <p:nvSpPr>
          <p:cNvPr id="4" name="Slide Number Placeholder 3">
            <a:extLst>
              <a:ext uri="{FF2B5EF4-FFF2-40B4-BE49-F238E27FC236}">
                <a16:creationId xmlns:a16="http://schemas.microsoft.com/office/drawing/2014/main" id="{E9BA037A-BDAD-AAC7-6425-11062CC51DD9}"/>
              </a:ext>
            </a:extLst>
          </p:cNvPr>
          <p:cNvSpPr>
            <a:spLocks noGrp="1"/>
          </p:cNvSpPr>
          <p:nvPr>
            <p:ph type="sldNum" sz="quarter" idx="12"/>
          </p:nvPr>
        </p:nvSpPr>
        <p:spPr/>
        <p:txBody>
          <a:bodyPr/>
          <a:lstStyle/>
          <a:p>
            <a:fld id="{BF1758FF-0BF1-4103-A89A-38EC40E85429}" type="slidenum">
              <a:rPr lang="en-SG" smtClean="0"/>
              <a:t>1</a:t>
            </a:fld>
            <a:endParaRPr lang="en-SG"/>
          </a:p>
        </p:txBody>
      </p:sp>
      <p:pic>
        <p:nvPicPr>
          <p:cNvPr id="5" name="Picture 6">
            <a:extLst>
              <a:ext uri="{FF2B5EF4-FFF2-40B4-BE49-F238E27FC236}">
                <a16:creationId xmlns:a16="http://schemas.microsoft.com/office/drawing/2014/main" id="{E590FE62-EC81-726B-215F-8ECE0FC79DAF}"/>
              </a:ext>
            </a:extLst>
          </p:cNvPr>
          <p:cNvPicPr>
            <a:picLocks noChangeAspect="1" noChangeArrowheads="1"/>
          </p:cNvPicPr>
          <p:nvPr/>
        </p:nvPicPr>
        <p:blipFill rotWithShape="1">
          <a:blip r:embed="rId2">
            <a:biLevel thresh="25000"/>
            <a:extLst>
              <a:ext uri="{28A0092B-C50C-407E-A947-70E740481C1C}">
                <a14:useLocalDpi xmlns:a14="http://schemas.microsoft.com/office/drawing/2010/main" val="0"/>
              </a:ext>
            </a:extLst>
          </a:blip>
          <a:srcRect l="22117" t="9724" r="19603" b="12061"/>
          <a:stretch/>
        </p:blipFill>
        <p:spPr bwMode="auto">
          <a:xfrm>
            <a:off x="476269" y="258717"/>
            <a:ext cx="1451723" cy="13772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45F6992-1F3B-B5D2-988D-D0B80B9010F5}"/>
              </a:ext>
            </a:extLst>
          </p:cNvPr>
          <p:cNvSpPr txBox="1"/>
          <p:nvPr/>
        </p:nvSpPr>
        <p:spPr>
          <a:xfrm>
            <a:off x="344046" y="1772676"/>
            <a:ext cx="11614398" cy="4893647"/>
          </a:xfrm>
          <a:prstGeom prst="rect">
            <a:avLst/>
          </a:prstGeom>
          <a:noFill/>
        </p:spPr>
        <p:txBody>
          <a:bodyPr wrap="none" rtlCol="0">
            <a:spAutoFit/>
          </a:bodyPr>
          <a:lstStyle/>
          <a:p>
            <a:r>
              <a:rPr lang="en-US" sz="2800" dirty="0"/>
              <a:t>DA 204o Data Science in Practice</a:t>
            </a:r>
          </a:p>
          <a:p>
            <a:r>
              <a:rPr lang="en-US" sz="2800" dirty="0"/>
              <a:t>Course Project Presentation</a:t>
            </a:r>
          </a:p>
          <a:p>
            <a:endParaRPr lang="en-US" sz="2800" dirty="0"/>
          </a:p>
          <a:p>
            <a:endParaRPr lang="en-US" sz="2800" dirty="0"/>
          </a:p>
          <a:p>
            <a:r>
              <a:rPr lang="en-US" sz="3200" b="1" dirty="0"/>
              <a:t>Driver Behavior Classification &amp; Fuel Consumption Prediction</a:t>
            </a:r>
          </a:p>
          <a:p>
            <a:endParaRPr lang="en-US" sz="2800" dirty="0"/>
          </a:p>
          <a:p>
            <a:r>
              <a:rPr lang="en-US" sz="2800" dirty="0"/>
              <a:t>Riddhi Ranjan De(23604)</a:t>
            </a:r>
            <a:br>
              <a:rPr lang="en-US" sz="2800" dirty="0"/>
            </a:br>
            <a:r>
              <a:rPr lang="en-US" sz="2800" dirty="0"/>
              <a:t>Sarveshwaran N(23585)</a:t>
            </a:r>
          </a:p>
          <a:p>
            <a:endParaRPr lang="en-US" sz="2800" dirty="0"/>
          </a:p>
          <a:p>
            <a:r>
              <a:rPr lang="en-US" sz="2800" dirty="0"/>
              <a:t> </a:t>
            </a:r>
          </a:p>
          <a:p>
            <a:endParaRPr lang="en-US" sz="2800" dirty="0"/>
          </a:p>
        </p:txBody>
      </p:sp>
    </p:spTree>
    <p:extLst>
      <p:ext uri="{BB962C8B-B14F-4D97-AF65-F5344CB8AC3E}">
        <p14:creationId xmlns:p14="http://schemas.microsoft.com/office/powerpoint/2010/main" val="2862065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B7FF8-0510-010A-3968-0A9601694D82}"/>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185AE85A-E189-A91E-61AE-FC6C1B5DFB6F}"/>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E0949E30-057D-9322-00FE-8763BF018580}"/>
              </a:ext>
            </a:extLst>
          </p:cNvPr>
          <p:cNvSpPr>
            <a:spLocks noGrp="1"/>
          </p:cNvSpPr>
          <p:nvPr>
            <p:ph type="sldNum" sz="quarter" idx="12"/>
          </p:nvPr>
        </p:nvSpPr>
        <p:spPr/>
        <p:txBody>
          <a:bodyPr/>
          <a:lstStyle/>
          <a:p>
            <a:fld id="{BF1758FF-0BF1-4103-A89A-38EC40E85429}" type="slidenum">
              <a:rPr lang="en-SG" smtClean="0"/>
              <a:t>2</a:t>
            </a:fld>
            <a:endParaRPr lang="en-SG"/>
          </a:p>
        </p:txBody>
      </p:sp>
      <p:graphicFrame>
        <p:nvGraphicFramePr>
          <p:cNvPr id="8" name="Table 7">
            <a:extLst>
              <a:ext uri="{FF2B5EF4-FFF2-40B4-BE49-F238E27FC236}">
                <a16:creationId xmlns:a16="http://schemas.microsoft.com/office/drawing/2014/main" id="{F338C86F-D45C-E6F1-8BB4-2422237366E1}"/>
              </a:ext>
            </a:extLst>
          </p:cNvPr>
          <p:cNvGraphicFramePr>
            <a:graphicFrameLocks noGrp="1"/>
          </p:cNvGraphicFramePr>
          <p:nvPr>
            <p:extLst>
              <p:ext uri="{D42A27DB-BD31-4B8C-83A1-F6EECF244321}">
                <p14:modId xmlns:p14="http://schemas.microsoft.com/office/powerpoint/2010/main" val="452052181"/>
              </p:ext>
            </p:extLst>
          </p:nvPr>
        </p:nvGraphicFramePr>
        <p:xfrm>
          <a:off x="85725" y="96202"/>
          <a:ext cx="12020550" cy="6697219"/>
        </p:xfrm>
        <a:graphic>
          <a:graphicData uri="http://schemas.openxmlformats.org/drawingml/2006/table">
            <a:tbl>
              <a:tblPr bandRow="1">
                <a:tableStyleId>{5C22544A-7EE6-4342-B048-85BDC9FD1C3A}</a:tableStyleId>
              </a:tblPr>
              <a:tblGrid>
                <a:gridCol w="1323975">
                  <a:extLst>
                    <a:ext uri="{9D8B030D-6E8A-4147-A177-3AD203B41FA5}">
                      <a16:colId xmlns:a16="http://schemas.microsoft.com/office/drawing/2014/main" val="2304975329"/>
                    </a:ext>
                  </a:extLst>
                </a:gridCol>
                <a:gridCol w="1323975">
                  <a:extLst>
                    <a:ext uri="{9D8B030D-6E8A-4147-A177-3AD203B41FA5}">
                      <a16:colId xmlns:a16="http://schemas.microsoft.com/office/drawing/2014/main" val="943214960"/>
                    </a:ext>
                  </a:extLst>
                </a:gridCol>
                <a:gridCol w="1323975">
                  <a:extLst>
                    <a:ext uri="{9D8B030D-6E8A-4147-A177-3AD203B41FA5}">
                      <a16:colId xmlns:a16="http://schemas.microsoft.com/office/drawing/2014/main" val="269889821"/>
                    </a:ext>
                  </a:extLst>
                </a:gridCol>
                <a:gridCol w="1323975">
                  <a:extLst>
                    <a:ext uri="{9D8B030D-6E8A-4147-A177-3AD203B41FA5}">
                      <a16:colId xmlns:a16="http://schemas.microsoft.com/office/drawing/2014/main" val="390409213"/>
                    </a:ext>
                  </a:extLst>
                </a:gridCol>
                <a:gridCol w="1323975">
                  <a:extLst>
                    <a:ext uri="{9D8B030D-6E8A-4147-A177-3AD203B41FA5}">
                      <a16:colId xmlns:a16="http://schemas.microsoft.com/office/drawing/2014/main" val="3641896622"/>
                    </a:ext>
                  </a:extLst>
                </a:gridCol>
                <a:gridCol w="1323975">
                  <a:extLst>
                    <a:ext uri="{9D8B030D-6E8A-4147-A177-3AD203B41FA5}">
                      <a16:colId xmlns:a16="http://schemas.microsoft.com/office/drawing/2014/main" val="2997266879"/>
                    </a:ext>
                  </a:extLst>
                </a:gridCol>
                <a:gridCol w="1323975">
                  <a:extLst>
                    <a:ext uri="{9D8B030D-6E8A-4147-A177-3AD203B41FA5}">
                      <a16:colId xmlns:a16="http://schemas.microsoft.com/office/drawing/2014/main" val="4094661857"/>
                    </a:ext>
                  </a:extLst>
                </a:gridCol>
                <a:gridCol w="2752725">
                  <a:extLst>
                    <a:ext uri="{9D8B030D-6E8A-4147-A177-3AD203B41FA5}">
                      <a16:colId xmlns:a16="http://schemas.microsoft.com/office/drawing/2014/main" val="1438518715"/>
                    </a:ext>
                  </a:extLst>
                </a:gridCol>
              </a:tblGrid>
              <a:tr h="285750">
                <a:tc rowSpan="2" gridSpan="3">
                  <a:txBody>
                    <a:bodyPr/>
                    <a:lstStyle/>
                    <a:p>
                      <a:pPr algn="l" fontAlgn="base">
                        <a:lnSpc>
                          <a:spcPts val="2175"/>
                        </a:lnSpc>
                        <a:buNone/>
                      </a:pPr>
                      <a:r>
                        <a:rPr lang="en-US" sz="1100" b="1" i="0">
                          <a:solidFill>
                            <a:srgbClr val="000000"/>
                          </a:solidFill>
                          <a:effectLst/>
                          <a:latin typeface="+mn-lt"/>
                        </a:rPr>
                        <a:t>Data Science Canvas</a:t>
                      </a:r>
                      <a:endParaRPr lang="en-US" sz="1100" b="0" i="0">
                        <a:solidFill>
                          <a:srgbClr val="000000"/>
                        </a:solidFill>
                        <a:effectLst/>
                        <a:latin typeface="+mn-lt"/>
                      </a:endParaRPr>
                    </a:p>
                  </a:txBody>
                  <a:tcPr anchor="ct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rowSpan="2" hMerge="1">
                  <a:txBody>
                    <a:bodyPr/>
                    <a:lstStyle/>
                    <a:p>
                      <a:endParaRPr lang="en-US"/>
                    </a:p>
                  </a:txBody>
                  <a:tcPr/>
                </a:tc>
                <a:tc rowSpan="2" hMerge="1">
                  <a:txBody>
                    <a:bodyPr/>
                    <a:lstStyle/>
                    <a:p>
                      <a:endParaRPr lang="en-US"/>
                    </a:p>
                  </a:txBody>
                  <a:tcPr/>
                </a:tc>
                <a:tc>
                  <a:txBody>
                    <a:bodyPr/>
                    <a:lstStyle/>
                    <a:p>
                      <a:pPr algn="l" fontAlgn="base">
                        <a:lnSpc>
                          <a:spcPts val="1650"/>
                        </a:lnSpc>
                        <a:buNone/>
                      </a:pPr>
                      <a:r>
                        <a:rPr lang="en-US" sz="1100" b="1" i="0">
                          <a:solidFill>
                            <a:srgbClr val="000000"/>
                          </a:solidFill>
                          <a:effectLst/>
                          <a:latin typeface="+mn-lt"/>
                        </a:rPr>
                        <a:t>Project:</a:t>
                      </a:r>
                      <a:endParaRPr lang="en-US" sz="1100" b="0" i="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gridSpan="4">
                  <a:txBody>
                    <a:bodyPr/>
                    <a:lstStyle/>
                    <a:p>
                      <a:pPr fontAlgn="t">
                        <a:buNone/>
                      </a:pPr>
                      <a:r>
                        <a:rPr lang="en-US" sz="1100" dirty="0">
                          <a:latin typeface="+mn-lt"/>
                        </a:rPr>
                        <a:t>Driver Behavior Classification &amp; Fuel Consumption Prediction</a:t>
                      </a:r>
                      <a:endParaRPr lang="en-US" sz="1100" dirty="0">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6487680"/>
                  </a:ext>
                </a:extLst>
              </a:tr>
              <a:tr h="285750">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ase">
                        <a:lnSpc>
                          <a:spcPts val="1650"/>
                        </a:lnSpc>
                        <a:buNone/>
                      </a:pPr>
                      <a:r>
                        <a:rPr lang="en-US" sz="1100" b="1" i="0">
                          <a:solidFill>
                            <a:srgbClr val="000000"/>
                          </a:solidFill>
                          <a:effectLst/>
                          <a:latin typeface="+mn-lt"/>
                        </a:rPr>
                        <a:t>Team:</a:t>
                      </a:r>
                      <a:endParaRPr lang="en-US" sz="1100" b="0" i="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gridSpan="4">
                  <a:txBody>
                    <a:bodyPr/>
                    <a:lstStyle/>
                    <a:p>
                      <a:pPr fontAlgn="t">
                        <a:buNone/>
                      </a:pPr>
                      <a:r>
                        <a:rPr lang="en-US" sz="1100" b="1" dirty="0">
                          <a:latin typeface="+mn-lt"/>
                        </a:rPr>
                        <a:t>Riddhi Ranjan DE</a:t>
                      </a:r>
                      <a:br>
                        <a:rPr lang="en-US" sz="1100" dirty="0">
                          <a:latin typeface="+mn-lt"/>
                        </a:rPr>
                      </a:br>
                      <a:r>
                        <a:rPr lang="en-US" sz="1100" b="1" dirty="0">
                          <a:latin typeface="+mn-lt"/>
                        </a:rPr>
                        <a:t>Sarveshwaran N</a:t>
                      </a:r>
                      <a:endParaRPr lang="en-US" sz="1100" dirty="0">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0F6FC6"/>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2163534"/>
                  </a:ext>
                </a:extLst>
              </a:tr>
              <a:tr h="352425">
                <a:tc gridSpan="4">
                  <a:txBody>
                    <a:bodyPr/>
                    <a:lstStyle/>
                    <a:p>
                      <a:pPr algn="ctr" fontAlgn="base">
                        <a:lnSpc>
                          <a:spcPts val="1950"/>
                        </a:lnSpc>
                        <a:buNone/>
                      </a:pPr>
                      <a:r>
                        <a:rPr lang="en-US" sz="1100" b="1" i="0" dirty="0">
                          <a:solidFill>
                            <a:srgbClr val="000000"/>
                          </a:solidFill>
                          <a:effectLst/>
                          <a:latin typeface="+mn-lt"/>
                        </a:rPr>
                        <a:t>Problem Statement</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base">
                        <a:lnSpc>
                          <a:spcPts val="1950"/>
                        </a:lnSpc>
                        <a:buNone/>
                      </a:pPr>
                      <a:r>
                        <a:rPr lang="en-SG" sz="1100" b="1" i="0">
                          <a:solidFill>
                            <a:srgbClr val="000000"/>
                          </a:solidFill>
                          <a:effectLst/>
                          <a:latin typeface="+mn-lt"/>
                        </a:rPr>
                        <a:t>Execution &amp; Evaluation</a:t>
                      </a:r>
                      <a:endParaRPr lang="en-SG" sz="1100" b="0" i="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gridSpan="2">
                  <a:txBody>
                    <a:bodyPr/>
                    <a:lstStyle/>
                    <a:p>
                      <a:pPr algn="ctr" fontAlgn="base">
                        <a:lnSpc>
                          <a:spcPts val="1650"/>
                        </a:lnSpc>
                        <a:buNone/>
                      </a:pPr>
                      <a:r>
                        <a:rPr lang="en-SG" sz="1100" b="1" i="0">
                          <a:solidFill>
                            <a:srgbClr val="000000"/>
                          </a:solidFill>
                          <a:effectLst/>
                          <a:latin typeface="+mn-lt"/>
                        </a:rPr>
                        <a:t>Data Collection &amp; Preparation</a:t>
                      </a:r>
                      <a:endParaRPr lang="en-SG" sz="1100" b="0" i="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1754966913"/>
                  </a:ext>
                </a:extLst>
              </a:tr>
              <a:tr h="2790825">
                <a:tc>
                  <a:txBody>
                    <a:bodyPr/>
                    <a:lstStyle/>
                    <a:p>
                      <a:pPr algn="l" fontAlgn="base">
                        <a:lnSpc>
                          <a:spcPts val="1200"/>
                        </a:lnSpc>
                        <a:buNone/>
                      </a:pPr>
                      <a:r>
                        <a:rPr lang="en-US" sz="1100" b="1" i="0" dirty="0">
                          <a:solidFill>
                            <a:srgbClr val="000000"/>
                          </a:solidFill>
                          <a:effectLst/>
                          <a:latin typeface="+mn-lt"/>
                        </a:rPr>
                        <a:t>Business Case &amp; Value Added</a:t>
                      </a:r>
                      <a:endParaRPr lang="en-US" sz="1100" b="0" i="0" dirty="0">
                        <a:solidFill>
                          <a:srgbClr val="000000"/>
                        </a:solidFill>
                        <a:effectLst/>
                        <a:latin typeface="+mn-lt"/>
                      </a:endParaRPr>
                    </a:p>
                    <a:p>
                      <a:pPr algn="l" fontAlgn="base">
                        <a:lnSpc>
                          <a:spcPts val="1200"/>
                        </a:lnSpc>
                        <a:buNone/>
                      </a:pPr>
                      <a:r>
                        <a:rPr lang="en-US" sz="1100" dirty="0">
                          <a:latin typeface="+mn-lt"/>
                        </a:rPr>
                        <a:t>Analyze telematics data to detect unsafe driving and predict fuel usage. This improves fleet safety and reduces operational fuel costs.</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2">
                  <a:txBody>
                    <a:bodyPr/>
                    <a:lstStyle/>
                    <a:p>
                      <a:pPr algn="l" fontAlgn="base">
                        <a:lnSpc>
                          <a:spcPts val="1200"/>
                        </a:lnSpc>
                        <a:buNone/>
                      </a:pPr>
                      <a:r>
                        <a:rPr lang="en-US" sz="1100" b="1" i="0" dirty="0">
                          <a:solidFill>
                            <a:srgbClr val="000000"/>
                          </a:solidFill>
                          <a:effectLst/>
                          <a:latin typeface="+mn-lt"/>
                        </a:rPr>
                        <a:t>Model Selection</a:t>
                      </a:r>
                      <a:endParaRPr lang="en-US" sz="1100" b="0" i="0" dirty="0">
                        <a:solidFill>
                          <a:srgbClr val="000000"/>
                        </a:solidFill>
                        <a:effectLst/>
                        <a:latin typeface="+mn-lt"/>
                      </a:endParaRPr>
                    </a:p>
                    <a:p>
                      <a:pPr algn="l" fontAlgn="base">
                        <a:lnSpc>
                          <a:spcPts val="1200"/>
                        </a:lnSpc>
                        <a:buNone/>
                      </a:pPr>
                      <a:r>
                        <a:rPr lang="en-US" sz="1100" dirty="0">
                          <a:latin typeface="+mn-lt"/>
                        </a:rPr>
                        <a:t>Use clustering and gradient-boosted models to detect aggressive driving and predict fuel use. These methods handle unlabeled, non-linear telematics data effectively.</a:t>
                      </a:r>
                    </a:p>
                    <a:p>
                      <a:pPr algn="l" fontAlgn="base">
                        <a:lnSpc>
                          <a:spcPts val="1200"/>
                        </a:lnSpc>
                        <a:buNone/>
                      </a:pPr>
                      <a:endParaRPr lang="en-US" sz="1100" b="0" i="0" dirty="0">
                        <a:solidFill>
                          <a:srgbClr val="000000"/>
                        </a:solidFill>
                        <a:effectLst/>
                        <a:latin typeface="+mn-lt"/>
                      </a:endParaRPr>
                    </a:p>
                    <a:p>
                      <a:pPr algn="l" fontAlgn="base">
                        <a:lnSpc>
                          <a:spcPts val="1200"/>
                        </a:lnSpc>
                        <a:buNone/>
                      </a:pPr>
                      <a:r>
                        <a:rPr lang="en-US" sz="1100" b="0" i="0" dirty="0">
                          <a:solidFill>
                            <a:srgbClr val="000000"/>
                          </a:solidFill>
                          <a:effectLst/>
                          <a:latin typeface="+mn-lt"/>
                        </a:rPr>
                        <a:t>Aggressive Driving: K-Means (k=4) for pseudo-labels </a:t>
                      </a:r>
                    </a:p>
                    <a:p>
                      <a:pPr algn="l" fontAlgn="base">
                        <a:lnSpc>
                          <a:spcPts val="1200"/>
                        </a:lnSpc>
                        <a:buNone/>
                      </a:pPr>
                      <a:r>
                        <a:rPr lang="en-US" sz="1100" b="0" i="0" dirty="0" err="1">
                          <a:solidFill>
                            <a:srgbClr val="000000"/>
                          </a:solidFill>
                          <a:effectLst/>
                          <a:latin typeface="+mn-lt"/>
                        </a:rPr>
                        <a:t>XGBoost</a:t>
                      </a:r>
                      <a:r>
                        <a:rPr lang="en-US" sz="1100" b="0" i="0" dirty="0">
                          <a:solidFill>
                            <a:srgbClr val="000000"/>
                          </a:solidFill>
                          <a:effectLst/>
                          <a:latin typeface="+mn-lt"/>
                        </a:rPr>
                        <a:t> Classifier for deployment  </a:t>
                      </a:r>
                    </a:p>
                    <a:p>
                      <a:pPr algn="l" fontAlgn="base">
                        <a:lnSpc>
                          <a:spcPts val="1200"/>
                        </a:lnSpc>
                        <a:buNone/>
                      </a:pPr>
                      <a:r>
                        <a:rPr lang="en-US" sz="1100" b="0" i="0" dirty="0">
                          <a:solidFill>
                            <a:srgbClr val="000000"/>
                          </a:solidFill>
                          <a:effectLst/>
                          <a:latin typeface="+mn-lt"/>
                        </a:rPr>
                        <a:t>Fuel Prediction: </a:t>
                      </a:r>
                      <a:r>
                        <a:rPr lang="en-US" sz="1100" b="0" i="0" dirty="0" err="1">
                          <a:solidFill>
                            <a:srgbClr val="000000"/>
                          </a:solidFill>
                          <a:effectLst/>
                          <a:latin typeface="+mn-lt"/>
                        </a:rPr>
                        <a:t>XGBoost</a:t>
                      </a:r>
                      <a:r>
                        <a:rPr lang="en-US" sz="1100" b="0" i="0" dirty="0">
                          <a:solidFill>
                            <a:srgbClr val="000000"/>
                          </a:solidFill>
                          <a:effectLst/>
                          <a:latin typeface="+mn-lt"/>
                        </a:rPr>
                        <a:t> &amp; </a:t>
                      </a:r>
                      <a:r>
                        <a:rPr lang="en-US" sz="1100" b="0" i="0" dirty="0" err="1">
                          <a:solidFill>
                            <a:srgbClr val="000000"/>
                          </a:solidFill>
                          <a:effectLst/>
                          <a:latin typeface="+mn-lt"/>
                        </a:rPr>
                        <a:t>HistGradientBoosting</a:t>
                      </a:r>
                      <a:r>
                        <a:rPr lang="en-US" sz="1100" b="0" i="0" dirty="0">
                          <a:solidFill>
                            <a:srgbClr val="000000"/>
                          </a:solidFill>
                          <a:effectLst/>
                          <a:latin typeface="+mn-lt"/>
                        </a:rPr>
                        <a:t> Regressors.</a:t>
                      </a:r>
                    </a:p>
                    <a:p>
                      <a:pPr algn="l" fontAlgn="base">
                        <a:lnSpc>
                          <a:spcPts val="1200"/>
                        </a:lnSpc>
                        <a:buNone/>
                      </a:pPr>
                      <a:r>
                        <a:rPr lang="en-US" sz="1100" b="0" i="0" dirty="0">
                          <a:solidFill>
                            <a:srgbClr val="000000"/>
                          </a:solidFill>
                          <a:effectLst/>
                          <a:latin typeface="+mn-lt"/>
                        </a:rPr>
                        <a:t> These handle non-linear behavior, large datasets, and unlabeled data.</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100" b="1" i="0" dirty="0">
                          <a:solidFill>
                            <a:srgbClr val="000000"/>
                          </a:solidFill>
                          <a:effectLst/>
                          <a:latin typeface="+mn-lt"/>
                        </a:rPr>
                        <a:t>Model Requirements</a:t>
                      </a:r>
                      <a:endParaRPr lang="en-US" sz="1100" b="0" i="0" dirty="0">
                        <a:solidFill>
                          <a:srgbClr val="000000"/>
                        </a:solidFill>
                        <a:effectLst/>
                        <a:latin typeface="+mn-lt"/>
                      </a:endParaRPr>
                    </a:p>
                    <a:p>
                      <a:pPr algn="l" fontAlgn="base">
                        <a:lnSpc>
                          <a:spcPts val="1200"/>
                        </a:lnSpc>
                        <a:buNone/>
                      </a:pPr>
                      <a:r>
                        <a:rPr lang="en-US" sz="1100" dirty="0">
                          <a:latin typeface="+mn-lt"/>
                        </a:rPr>
                        <a:t>Models must avoid driver leakage, handle non-linear patterns, and use scaled numeric inputs. They must generalize to unseen drivers for valid performance.</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2">
                  <a:txBody>
                    <a:bodyPr/>
                    <a:lstStyle/>
                    <a:p>
                      <a:pPr algn="l" fontAlgn="base">
                        <a:lnSpc>
                          <a:spcPts val="1200"/>
                        </a:lnSpc>
                        <a:buNone/>
                      </a:pPr>
                      <a:r>
                        <a:rPr lang="en-US" sz="1100" b="1" i="0" dirty="0">
                          <a:solidFill>
                            <a:srgbClr val="000000"/>
                          </a:solidFill>
                          <a:effectLst/>
                          <a:latin typeface="+mn-lt"/>
                        </a:rPr>
                        <a:t>Skills</a:t>
                      </a:r>
                      <a:endParaRPr lang="en-US" sz="1100" b="0" i="0" dirty="0">
                        <a:solidFill>
                          <a:srgbClr val="000000"/>
                        </a:solidFill>
                        <a:effectLst/>
                        <a:latin typeface="+mn-lt"/>
                      </a:endParaRPr>
                    </a:p>
                    <a:p>
                      <a:r>
                        <a:rPr lang="en-US" sz="1100" dirty="0">
                          <a:latin typeface="+mn-lt"/>
                        </a:rPr>
                        <a:t>Python (Pandas, NumPy, Scikit-learn).</a:t>
                      </a:r>
                    </a:p>
                    <a:p>
                      <a:r>
                        <a:rPr lang="en-US" sz="1100" dirty="0">
                          <a:latin typeface="+mn-lt"/>
                        </a:rPr>
                        <a:t>ML: clustering, boosting, evaluation metrics.</a:t>
                      </a:r>
                    </a:p>
                    <a:p>
                      <a:r>
                        <a:rPr lang="en-US" sz="1100" dirty="0">
                          <a:latin typeface="+mn-lt"/>
                        </a:rPr>
                        <a:t>Feature engineering &amp; EDA.</a:t>
                      </a:r>
                    </a:p>
                    <a:p>
                      <a:r>
                        <a:rPr lang="en-US" sz="1100" dirty="0">
                          <a:latin typeface="+mn-lt"/>
                        </a:rPr>
                        <a:t>Domain understanding of telematics (speed, rpm, braking).</a:t>
                      </a:r>
                    </a:p>
                    <a:p>
                      <a:r>
                        <a:rPr lang="en-US" sz="1100" dirty="0">
                          <a:latin typeface="+mn-lt"/>
                        </a:rPr>
                        <a:t>Visualization (Matplotlib/Seaborn).</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2">
                  <a:txBody>
                    <a:bodyPr/>
                    <a:lstStyle/>
                    <a:p>
                      <a:pPr algn="l" fontAlgn="base">
                        <a:lnSpc>
                          <a:spcPts val="1200"/>
                        </a:lnSpc>
                        <a:buNone/>
                      </a:pPr>
                      <a:r>
                        <a:rPr lang="en-US" sz="1100" b="1" i="0" dirty="0">
                          <a:solidFill>
                            <a:srgbClr val="000000"/>
                          </a:solidFill>
                          <a:effectLst/>
                          <a:latin typeface="+mn-lt"/>
                        </a:rPr>
                        <a:t>Model Evaluation</a:t>
                      </a:r>
                      <a:endParaRPr lang="en-US" sz="1100" b="0" i="0" dirty="0">
                        <a:solidFill>
                          <a:srgbClr val="000000"/>
                        </a:solidFill>
                        <a:effectLst/>
                        <a:latin typeface="+mn-lt"/>
                      </a:endParaRPr>
                    </a:p>
                    <a:p>
                      <a:pPr algn="l" fontAlgn="base">
                        <a:lnSpc>
                          <a:spcPts val="1200"/>
                        </a:lnSpc>
                        <a:buNone/>
                      </a:pPr>
                      <a:r>
                        <a:rPr lang="en-US" sz="1100" dirty="0">
                          <a:latin typeface="+mn-lt"/>
                        </a:rPr>
                        <a:t>Evaluate accuracy, F1, and ROC-AUC for aggressive driving, and MAE for fuel prediction. </a:t>
                      </a:r>
                    </a:p>
                    <a:p>
                      <a:pPr algn="l" fontAlgn="base">
                        <a:lnSpc>
                          <a:spcPts val="1200"/>
                        </a:lnSpc>
                        <a:buNone/>
                      </a:pPr>
                      <a:r>
                        <a:rPr lang="en-US" sz="1100" dirty="0">
                          <a:latin typeface="+mn-lt"/>
                        </a:rPr>
                        <a:t>Real-time monitoring is required for safety alerts.</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rowSpan="2">
                  <a:txBody>
                    <a:bodyPr/>
                    <a:lstStyle/>
                    <a:p>
                      <a:pPr algn="l" fontAlgn="base">
                        <a:lnSpc>
                          <a:spcPts val="1200"/>
                        </a:lnSpc>
                        <a:buNone/>
                      </a:pPr>
                      <a:r>
                        <a:rPr lang="en-US" sz="1100" b="1" i="0" dirty="0">
                          <a:solidFill>
                            <a:srgbClr val="000000"/>
                          </a:solidFill>
                          <a:effectLst/>
                          <a:latin typeface="+mn-lt"/>
                        </a:rPr>
                        <a:t>Data Storytelling</a:t>
                      </a:r>
                      <a:endParaRPr lang="en-US" sz="1100" b="0" i="0" dirty="0">
                        <a:solidFill>
                          <a:srgbClr val="000000"/>
                        </a:solidFill>
                        <a:effectLst/>
                        <a:latin typeface="+mn-lt"/>
                      </a:endParaRPr>
                    </a:p>
                    <a:p>
                      <a:pPr algn="l" fontAlgn="base">
                        <a:lnSpc>
                          <a:spcPts val="1200"/>
                        </a:lnSpc>
                        <a:buNone/>
                      </a:pPr>
                      <a:r>
                        <a:rPr lang="en-US" sz="1100" dirty="0">
                          <a:latin typeface="+mn-lt"/>
                        </a:rPr>
                        <a:t>The target audience needs clear visuals and actionable insights. Use simple cluster explanations and plots to highlight unsafe driving and inefficient trips.</a:t>
                      </a:r>
                    </a:p>
                    <a:p>
                      <a:pPr algn="l" fontAlgn="base">
                        <a:lnSpc>
                          <a:spcPts val="1200"/>
                        </a:lnSpc>
                        <a:buNone/>
                      </a:pPr>
                      <a:r>
                        <a:rPr lang="en-US" sz="1100" b="0" i="0" dirty="0">
                          <a:solidFill>
                            <a:srgbClr val="000000"/>
                          </a:solidFill>
                          <a:effectLst/>
                          <a:latin typeface="+mn-lt"/>
                        </a:rPr>
                        <a:t>Visualize PCA, scatter plots, percentile thresholds. Provide practical insights: unsafe drivers, fuel-inefficient trips.</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100" b="1" i="0" dirty="0">
                          <a:solidFill>
                            <a:srgbClr val="000000"/>
                          </a:solidFill>
                          <a:effectLst/>
                          <a:latin typeface="+mn-lt"/>
                        </a:rPr>
                        <a:t>Data Selection &amp; Cleansing</a:t>
                      </a:r>
                      <a:endParaRPr lang="en-US" sz="1100" b="0" i="0" dirty="0">
                        <a:solidFill>
                          <a:srgbClr val="000000"/>
                        </a:solidFill>
                        <a:effectLst/>
                        <a:latin typeface="+mn-lt"/>
                      </a:endParaRPr>
                    </a:p>
                    <a:p>
                      <a:r>
                        <a:rPr lang="en-US" sz="1100" dirty="0"/>
                        <a:t>Clustering/classification used 6 behavior features; fuel prediction used 10 engineered features. Timestamp removed, no missing data, and outliers kept as meaningful extremes.</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100" b="1" i="0" dirty="0">
                          <a:solidFill>
                            <a:srgbClr val="000000"/>
                          </a:solidFill>
                          <a:effectLst/>
                          <a:latin typeface="+mn-lt"/>
                        </a:rPr>
                        <a:t>Data Collection</a:t>
                      </a:r>
                      <a:endParaRPr lang="en-US" sz="1100" b="0" i="0" dirty="0">
                        <a:solidFill>
                          <a:srgbClr val="000000"/>
                        </a:solidFill>
                        <a:effectLst/>
                        <a:latin typeface="+mn-lt"/>
                      </a:endParaRPr>
                    </a:p>
                    <a:p>
                      <a:r>
                        <a:rPr lang="en-US" sz="1100" dirty="0"/>
                        <a:t>Dataset: </a:t>
                      </a:r>
                      <a:r>
                        <a:rPr lang="en-US" sz="1100" i="1" dirty="0"/>
                        <a:t>Driver Behavior &amp; Route Anomaly (DBRA24)</a:t>
                      </a:r>
                      <a:r>
                        <a:rPr lang="en-US" sz="1100" dirty="0"/>
                        <a:t> from Kaggle.</a:t>
                      </a:r>
                    </a:p>
                    <a:p>
                      <a:r>
                        <a:rPr lang="en-US" sz="1100" dirty="0"/>
                        <a:t>120,000 trips × 26 features collected from telematics sensors:</a:t>
                      </a:r>
                      <a:br>
                        <a:rPr lang="en-US" sz="1100" dirty="0"/>
                      </a:br>
                      <a:r>
                        <a:rPr lang="en-US" sz="1100" dirty="0"/>
                        <a:t>speed, acceleration, steering, rpm, route deviation, weather, road type.</a:t>
                      </a:r>
                    </a:p>
                    <a:p>
                      <a:r>
                        <a:rPr lang="en-US" sz="1100" dirty="0"/>
                        <a:t>Additional data can be gathered from vehicle sensors, OBD-II, and terrain APIs. It must be accurate, time-aligned, and consistently recorded per trip.</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90330776"/>
                  </a:ext>
                </a:extLst>
              </a:tr>
              <a:tr h="2790825">
                <a:tc>
                  <a:txBody>
                    <a:bodyPr/>
                    <a:lstStyle/>
                    <a:p>
                      <a:pPr algn="l" fontAlgn="base">
                        <a:lnSpc>
                          <a:spcPts val="1200"/>
                        </a:lnSpc>
                        <a:buNone/>
                      </a:pPr>
                      <a:r>
                        <a:rPr lang="en-US" sz="1100" b="1" i="0" dirty="0">
                          <a:solidFill>
                            <a:srgbClr val="000000"/>
                          </a:solidFill>
                          <a:effectLst/>
                          <a:latin typeface="+mn-lt"/>
                        </a:rPr>
                        <a:t>Data Landscape</a:t>
                      </a:r>
                      <a:endParaRPr lang="en-US" sz="1100" b="0" i="0" dirty="0">
                        <a:solidFill>
                          <a:srgbClr val="000000"/>
                        </a:solidFill>
                        <a:effectLst/>
                        <a:latin typeface="+mn-lt"/>
                      </a:endParaRPr>
                    </a:p>
                    <a:p>
                      <a:pPr algn="l" fontAlgn="base">
                        <a:lnSpc>
                          <a:spcPts val="1200"/>
                        </a:lnSpc>
                        <a:buNone/>
                      </a:pPr>
                      <a:r>
                        <a:rPr lang="en-US" sz="1100" dirty="0">
                          <a:latin typeface="+mn-lt"/>
                        </a:rPr>
                        <a:t>You need trip-level telemetry, environmental context, and fuel data, which are already available. Additional vehicle specifications and terrain data would improve accuracy.</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algn="l" fontAlgn="base">
                        <a:lnSpc>
                          <a:spcPts val="1200"/>
                        </a:lnSpc>
                        <a:buNone/>
                      </a:pPr>
                      <a:r>
                        <a:rPr lang="en-US" sz="1100" b="1" i="0" dirty="0">
                          <a:solidFill>
                            <a:srgbClr val="000000"/>
                          </a:solidFill>
                          <a:effectLst/>
                          <a:latin typeface="+mn-lt"/>
                        </a:rPr>
                        <a:t>Software &amp; Libraries</a:t>
                      </a:r>
                      <a:endParaRPr lang="en-US" sz="1100" b="0" i="0" dirty="0">
                        <a:solidFill>
                          <a:srgbClr val="000000"/>
                        </a:solidFill>
                        <a:effectLst/>
                        <a:latin typeface="+mn-lt"/>
                      </a:endParaRPr>
                    </a:p>
                    <a:p>
                      <a:r>
                        <a:rPr lang="en-US" sz="1100" dirty="0">
                          <a:latin typeface="+mn-lt"/>
                        </a:rPr>
                        <a:t>Python + </a:t>
                      </a:r>
                      <a:r>
                        <a:rPr lang="en-US" sz="1100" dirty="0" err="1">
                          <a:latin typeface="+mn-lt"/>
                        </a:rPr>
                        <a:t>Jupyter</a:t>
                      </a:r>
                      <a:r>
                        <a:rPr lang="en-US" sz="1100" dirty="0">
                          <a:latin typeface="+mn-lt"/>
                        </a:rPr>
                        <a:t> Notebook</a:t>
                      </a:r>
                    </a:p>
                    <a:p>
                      <a:r>
                        <a:rPr lang="en-US" sz="1100" dirty="0">
                          <a:latin typeface="+mn-lt"/>
                        </a:rPr>
                        <a:t>Pandas, NumPy, Matplotlib, Seaborn</a:t>
                      </a:r>
                    </a:p>
                    <a:p>
                      <a:r>
                        <a:rPr lang="en-US" sz="1100" dirty="0">
                          <a:latin typeface="+mn-lt"/>
                        </a:rPr>
                        <a:t>Scikit-Learn, </a:t>
                      </a:r>
                      <a:r>
                        <a:rPr lang="en-US" sz="1100" dirty="0" err="1">
                          <a:latin typeface="+mn-lt"/>
                        </a:rPr>
                        <a:t>XGBoost</a:t>
                      </a:r>
                      <a:r>
                        <a:rPr lang="en-US" sz="1100" dirty="0">
                          <a:latin typeface="+mn-lt"/>
                        </a:rPr>
                        <a:t>, </a:t>
                      </a:r>
                      <a:r>
                        <a:rPr lang="en-US" sz="1100" dirty="0" err="1">
                          <a:latin typeface="+mn-lt"/>
                        </a:rPr>
                        <a:t>HistGradientBoosting</a:t>
                      </a:r>
                      <a:endParaRPr lang="en-US" sz="1100" dirty="0">
                        <a:latin typeface="+mn-lt"/>
                      </a:endParaRPr>
                    </a:p>
                    <a:p>
                      <a:r>
                        <a:rPr lang="en-US" sz="1100" dirty="0">
                          <a:latin typeface="+mn-lt"/>
                        </a:rPr>
                        <a:t>(Optional future work: </a:t>
                      </a:r>
                      <a:r>
                        <a:rPr lang="en-US" sz="1100" dirty="0" err="1">
                          <a:latin typeface="+mn-lt"/>
                        </a:rPr>
                        <a:t>PyTorch</a:t>
                      </a:r>
                      <a:r>
                        <a:rPr lang="en-US" sz="1100" dirty="0">
                          <a:latin typeface="+mn-lt"/>
                        </a:rPr>
                        <a:t> for AE/Deep models)</a:t>
                      </a: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base">
                        <a:lnSpc>
                          <a:spcPts val="1200"/>
                        </a:lnSpc>
                        <a:buNone/>
                      </a:pPr>
                      <a:r>
                        <a:rPr lang="en-US" sz="1100" b="1" i="0" dirty="0">
                          <a:solidFill>
                            <a:srgbClr val="000000"/>
                          </a:solidFill>
                          <a:effectLst/>
                          <a:latin typeface="+mn-lt"/>
                        </a:rPr>
                        <a:t>Data Integration</a:t>
                      </a:r>
                      <a:endParaRPr lang="en-US" sz="1100" b="0" i="0" dirty="0">
                        <a:solidFill>
                          <a:srgbClr val="000000"/>
                        </a:solidFill>
                        <a:effectLst/>
                        <a:latin typeface="+mn-lt"/>
                      </a:endParaRPr>
                    </a:p>
                    <a:p>
                      <a:pPr algn="l" fontAlgn="base">
                        <a:lnSpc>
                          <a:spcPts val="1200"/>
                        </a:lnSpc>
                        <a:buNone/>
                      </a:pPr>
                      <a:r>
                        <a:rPr lang="en-US" sz="1100" dirty="0"/>
                        <a:t>All data is already in a single CSV, so migration isn’t needed. It should simply be loaded into a unified Python/pandas environment for processing.</a:t>
                      </a: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tc>
                  <a:txBody>
                    <a:bodyPr/>
                    <a:lstStyle/>
                    <a:p>
                      <a:pPr algn="l" fontAlgn="base">
                        <a:lnSpc>
                          <a:spcPts val="1200"/>
                        </a:lnSpc>
                        <a:buNone/>
                      </a:pPr>
                      <a:r>
                        <a:rPr lang="en-US" sz="1100" b="1" i="0" dirty="0">
                          <a:solidFill>
                            <a:srgbClr val="000000"/>
                          </a:solidFill>
                          <a:effectLst/>
                          <a:latin typeface="+mn-lt"/>
                        </a:rPr>
                        <a:t>Explorative Data Analysis</a:t>
                      </a:r>
                      <a:endParaRPr lang="en-US" sz="1100" b="0" i="0" dirty="0">
                        <a:solidFill>
                          <a:srgbClr val="000000"/>
                        </a:solidFill>
                        <a:effectLst/>
                        <a:latin typeface="+mn-lt"/>
                      </a:endParaRPr>
                    </a:p>
                    <a:p>
                      <a:pPr algn="l" fontAlgn="base">
                        <a:lnSpc>
                          <a:spcPts val="1200"/>
                        </a:lnSpc>
                        <a:buNone/>
                      </a:pPr>
                      <a:r>
                        <a:rPr lang="en-US" sz="1100" dirty="0"/>
                        <a:t>EDA showed meaningful outliers reflecting real extreme behaviors and clear driver-specific patterns. Descriptive statistics and distributions were created to assess data quality.</a:t>
                      </a:r>
                    </a:p>
                    <a:p>
                      <a:r>
                        <a:rPr lang="en-US" sz="1100" dirty="0"/>
                        <a:t>Confirmed 1 trip = 1 row (no time series).</a:t>
                      </a:r>
                    </a:p>
                    <a:p>
                      <a:r>
                        <a:rPr lang="en-US" sz="1100" dirty="0"/>
                        <a:t>Driver-level profiling identified behavioral variability.</a:t>
                      </a:r>
                    </a:p>
                    <a:p>
                      <a:r>
                        <a:rPr lang="en-US" sz="1100" dirty="0"/>
                        <a:t>Correlation heatmaps showed weak correlations → need multi-feature modeling.</a:t>
                      </a:r>
                    </a:p>
                    <a:p>
                      <a:r>
                        <a:rPr lang="en-US" sz="1100" dirty="0"/>
                        <a:t>Identified skewed features (rpm, acceleration variation).</a:t>
                      </a:r>
                    </a:p>
                    <a:p>
                      <a:r>
                        <a:rPr lang="en-US" sz="1100" dirty="0"/>
                        <a:t>Percentile thresholds computed (p50–p99).</a:t>
                      </a:r>
                    </a:p>
                    <a:p>
                      <a:pPr algn="l" fontAlgn="base">
                        <a:lnSpc>
                          <a:spcPts val="1200"/>
                        </a:lnSpc>
                        <a:buNone/>
                      </a:pPr>
                      <a:endParaRPr lang="en-US" sz="1100" b="0" i="0" dirty="0">
                        <a:solidFill>
                          <a:srgbClr val="000000"/>
                        </a:solidFill>
                        <a:effectLst/>
                        <a:latin typeface="+mn-lt"/>
                      </a:endParaRPr>
                    </a:p>
                  </a:txBody>
                  <a:tcPr>
                    <a:lnL w="11192" cap="flat" cmpd="sng" algn="ctr">
                      <a:solidFill>
                        <a:srgbClr val="000000"/>
                      </a:solidFill>
                      <a:prstDash val="solid"/>
                      <a:round/>
                      <a:headEnd type="none" w="med" len="med"/>
                      <a:tailEnd type="none" w="med" len="med"/>
                    </a:lnL>
                    <a:lnR w="11192" cap="flat" cmpd="sng" algn="ctr">
                      <a:solidFill>
                        <a:srgbClr val="000000"/>
                      </a:solidFill>
                      <a:prstDash val="solid"/>
                      <a:round/>
                      <a:headEnd type="none" w="med" len="med"/>
                      <a:tailEnd type="none" w="med" len="med"/>
                    </a:lnR>
                    <a:lnT w="11192" cap="flat" cmpd="sng" algn="ctr">
                      <a:solidFill>
                        <a:srgbClr val="000000"/>
                      </a:solidFill>
                      <a:prstDash val="solid"/>
                      <a:round/>
                      <a:headEnd type="none" w="med" len="med"/>
                      <a:tailEnd type="none" w="med" len="med"/>
                    </a:lnT>
                    <a:lnB w="1119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79018604"/>
                  </a:ext>
                </a:extLst>
              </a:tr>
            </a:tbl>
          </a:graphicData>
        </a:graphic>
      </p:graphicFrame>
    </p:spTree>
    <p:extLst>
      <p:ext uri="{BB962C8B-B14F-4D97-AF65-F5344CB8AC3E}">
        <p14:creationId xmlns:p14="http://schemas.microsoft.com/office/powerpoint/2010/main" val="3099171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A3A06-5158-8C83-FE12-35BBF4432997}"/>
              </a:ext>
            </a:extLst>
          </p:cNvPr>
          <p:cNvSpPr>
            <a:spLocks noGrp="1"/>
          </p:cNvSpPr>
          <p:nvPr>
            <p:ph type="title"/>
          </p:nvPr>
        </p:nvSpPr>
        <p:spPr>
          <a:xfrm>
            <a:off x="685800" y="0"/>
            <a:ext cx="10515600" cy="947208"/>
          </a:xfrm>
        </p:spPr>
        <p:txBody>
          <a:bodyPr>
            <a:normAutofit/>
          </a:bodyPr>
          <a:lstStyle/>
          <a:p>
            <a:r>
              <a:rPr lang="en-US" sz="4000" dirty="0"/>
              <a:t>Problem Definition (Clustering + Prediction)</a:t>
            </a:r>
          </a:p>
        </p:txBody>
      </p:sp>
      <p:pic>
        <p:nvPicPr>
          <p:cNvPr id="7" name="Content Placeholder 6">
            <a:extLst>
              <a:ext uri="{FF2B5EF4-FFF2-40B4-BE49-F238E27FC236}">
                <a16:creationId xmlns:a16="http://schemas.microsoft.com/office/drawing/2014/main" id="{9A3201D7-7458-F814-8C15-C6F76E805C55}"/>
              </a:ext>
            </a:extLst>
          </p:cNvPr>
          <p:cNvPicPr>
            <a:picLocks noGrp="1" noChangeAspect="1"/>
          </p:cNvPicPr>
          <p:nvPr>
            <p:ph idx="1"/>
          </p:nvPr>
        </p:nvPicPr>
        <p:blipFill>
          <a:blip r:embed="rId2"/>
          <a:stretch>
            <a:fillRect/>
          </a:stretch>
        </p:blipFill>
        <p:spPr>
          <a:xfrm>
            <a:off x="1533384" y="825590"/>
            <a:ext cx="8820432" cy="5206819"/>
          </a:xfrm>
        </p:spPr>
      </p:pic>
      <p:sp>
        <p:nvSpPr>
          <p:cNvPr id="4" name="Footer Placeholder 3">
            <a:extLst>
              <a:ext uri="{FF2B5EF4-FFF2-40B4-BE49-F238E27FC236}">
                <a16:creationId xmlns:a16="http://schemas.microsoft.com/office/drawing/2014/main" id="{D6B12BC0-2EDC-919F-C87A-4ABD2AD521BE}"/>
              </a:ext>
            </a:extLst>
          </p:cNvPr>
          <p:cNvSpPr>
            <a:spLocks noGrp="1"/>
          </p:cNvSpPr>
          <p:nvPr>
            <p:ph type="ftr" sz="quarter" idx="11"/>
          </p:nvPr>
        </p:nvSpPr>
        <p:spPr/>
        <p:txBody>
          <a:bodyPr/>
          <a:lstStyle/>
          <a:p>
            <a:r>
              <a:rPr lang="it-IT"/>
              <a:t>DA 204o: Data Science in Practice</a:t>
            </a:r>
            <a:endParaRPr lang="en-SG"/>
          </a:p>
        </p:txBody>
      </p:sp>
      <p:sp>
        <p:nvSpPr>
          <p:cNvPr id="5" name="Slide Number Placeholder 4">
            <a:extLst>
              <a:ext uri="{FF2B5EF4-FFF2-40B4-BE49-F238E27FC236}">
                <a16:creationId xmlns:a16="http://schemas.microsoft.com/office/drawing/2014/main" id="{DBB07B39-FF1F-FE05-4836-4FF9C1528DAC}"/>
              </a:ext>
            </a:extLst>
          </p:cNvPr>
          <p:cNvSpPr>
            <a:spLocks noGrp="1"/>
          </p:cNvSpPr>
          <p:nvPr>
            <p:ph type="sldNum" sz="quarter" idx="12"/>
          </p:nvPr>
        </p:nvSpPr>
        <p:spPr/>
        <p:txBody>
          <a:bodyPr/>
          <a:lstStyle/>
          <a:p>
            <a:fld id="{BF1758FF-0BF1-4103-A89A-38EC40E85429}" type="slidenum">
              <a:rPr lang="en-SG" smtClean="0"/>
              <a:pPr/>
              <a:t>3</a:t>
            </a:fld>
            <a:endParaRPr lang="en-SG" dirty="0"/>
          </a:p>
        </p:txBody>
      </p:sp>
    </p:spTree>
    <p:extLst>
      <p:ext uri="{BB962C8B-B14F-4D97-AF65-F5344CB8AC3E}">
        <p14:creationId xmlns:p14="http://schemas.microsoft.com/office/powerpoint/2010/main" val="3362734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000" dirty="0"/>
              <a:t>Data Collection and Preparation</a:t>
            </a:r>
          </a:p>
        </p:txBody>
      </p:sp>
      <p:sp>
        <p:nvSpPr>
          <p:cNvPr id="4" name="Subtitle 3"/>
          <p:cNvSpPr>
            <a:spLocks noGrp="1"/>
          </p:cNvSpPr>
          <p:nvPr>
            <p:ph type="subTitle" idx="13"/>
          </p:nvPr>
        </p:nvSpPr>
        <p:spPr/>
        <p:txBody>
          <a:bodyPr>
            <a:normAutofit/>
          </a:bodyPr>
          <a:lstStyle/>
          <a:p>
            <a:r>
              <a:rPr dirty="0"/>
              <a:t>Driver Behavior &amp; Route Anomaly Dataset (</a:t>
            </a:r>
            <a:r>
              <a:rPr dirty="0" err="1"/>
              <a:t>DBRA24</a:t>
            </a:r>
            <a:r>
              <a:rPr dirty="0"/>
              <a:t>)</a:t>
            </a:r>
          </a:p>
        </p:txBody>
      </p:sp>
      <p:sp>
        <p:nvSpPr>
          <p:cNvPr id="5" name="Rectangle 4"/>
          <p:cNvSpPr/>
          <p:nvPr/>
        </p:nvSpPr>
        <p:spPr>
          <a:xfrm>
            <a:off x="304800" y="2011560"/>
            <a:ext cx="11582400" cy="42672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Rectangle 5"/>
          <p:cNvSpPr/>
          <p:nvPr/>
        </p:nvSpPr>
        <p:spPr>
          <a:xfrm>
            <a:off x="304800" y="2011560"/>
            <a:ext cx="11582400" cy="42672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sz="1733"/>
          </a:p>
        </p:txBody>
      </p:sp>
      <p:sp>
        <p:nvSpPr>
          <p:cNvPr id="7" name="Rectangle 6"/>
          <p:cNvSpPr/>
          <p:nvPr/>
        </p:nvSpPr>
        <p:spPr>
          <a:xfrm>
            <a:off x="304800" y="2011560"/>
            <a:ext cx="11582400" cy="42672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Rectangle 7"/>
          <p:cNvSpPr/>
          <p:nvPr/>
        </p:nvSpPr>
        <p:spPr>
          <a:xfrm>
            <a:off x="304800" y="2011560"/>
            <a:ext cx="11379200" cy="42672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Rectangle 8"/>
          <p:cNvSpPr/>
          <p:nvPr/>
        </p:nvSpPr>
        <p:spPr>
          <a:xfrm>
            <a:off x="304800" y="2011560"/>
            <a:ext cx="11379200" cy="44594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Rectangle 9"/>
          <p:cNvSpPr/>
          <p:nvPr/>
        </p:nvSpPr>
        <p:spPr>
          <a:xfrm>
            <a:off x="304800" y="2011560"/>
            <a:ext cx="11379200" cy="44594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Rectangle 10"/>
          <p:cNvSpPr/>
          <p:nvPr/>
        </p:nvSpPr>
        <p:spPr>
          <a:xfrm>
            <a:off x="304800" y="2011561"/>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Rectangle 11"/>
          <p:cNvSpPr/>
          <p:nvPr/>
        </p:nvSpPr>
        <p:spPr>
          <a:xfrm>
            <a:off x="304800" y="2011561"/>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ectangle 12"/>
          <p:cNvSpPr/>
          <p:nvPr/>
        </p:nvSpPr>
        <p:spPr>
          <a:xfrm>
            <a:off x="304800" y="1779058"/>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Rectangle 13"/>
          <p:cNvSpPr/>
          <p:nvPr/>
        </p:nvSpPr>
        <p:spPr>
          <a:xfrm>
            <a:off x="2882900" y="2011560"/>
            <a:ext cx="406400" cy="406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2882900" y="2011560"/>
            <a:ext cx="406400" cy="369332"/>
          </a:xfrm>
          <a:prstGeom prst="rect">
            <a:avLst/>
          </a:prstGeom>
          <a:noFill/>
          <a:ln>
            <a:noFill/>
          </a:ln>
        </p:spPr>
        <p:txBody>
          <a:bodyPr wrap="square" lIns="0" tIns="0" rIns="0" bIns="0" anchor="t">
            <a:spAutoFit/>
          </a:bodyPr>
          <a:lstStyle/>
          <a:p>
            <a:pPr algn="ctr"/>
            <a:endParaRPr sz="2400"/>
          </a:p>
        </p:txBody>
      </p:sp>
      <p:pic>
        <p:nvPicPr>
          <p:cNvPr id="16" name="Picture 15" descr="tmpdc0vgjda.png"/>
          <p:cNvPicPr>
            <a:picLocks noChangeAspect="1"/>
          </p:cNvPicPr>
          <p:nvPr/>
        </p:nvPicPr>
        <p:blipFill>
          <a:blip r:embed="rId2"/>
          <a:stretch>
            <a:fillRect/>
          </a:stretch>
        </p:blipFill>
        <p:spPr>
          <a:xfrm>
            <a:off x="2882900" y="2011560"/>
            <a:ext cx="406400" cy="406400"/>
          </a:xfrm>
          <a:prstGeom prst="rect">
            <a:avLst/>
          </a:prstGeom>
        </p:spPr>
      </p:pic>
      <p:sp>
        <p:nvSpPr>
          <p:cNvPr id="17" name="TextBox 16"/>
          <p:cNvSpPr txBox="1"/>
          <p:nvPr/>
        </p:nvSpPr>
        <p:spPr>
          <a:xfrm>
            <a:off x="304800" y="2570361"/>
            <a:ext cx="5562600" cy="1415965"/>
          </a:xfrm>
          <a:prstGeom prst="rect">
            <a:avLst/>
          </a:prstGeom>
          <a:noFill/>
          <a:ln>
            <a:noFill/>
          </a:ln>
        </p:spPr>
        <p:txBody>
          <a:bodyPr wrap="square" lIns="0" tIns="0" rIns="0" bIns="0" anchor="t">
            <a:spAutoFit/>
          </a:bodyPr>
          <a:lstStyle/>
          <a:p>
            <a:pPr algn="ctr"/>
            <a:r>
              <a:rPr sz="1733" b="1" dirty="0">
                <a:solidFill>
                  <a:srgbClr val="1F2728"/>
                </a:solidFill>
                <a:latin typeface="Roboto"/>
              </a:rPr>
              <a:t>Dataset Overview</a:t>
            </a:r>
          </a:p>
          <a:p>
            <a:pPr algn="ctr">
              <a:spcAft>
                <a:spcPts val="1600"/>
              </a:spcAft>
            </a:pPr>
            <a:r>
              <a:rPr sz="1867" dirty="0">
                <a:solidFill>
                  <a:srgbClr val="1F2728"/>
                </a:solidFill>
                <a:latin typeface="Roboto"/>
              </a:rPr>
              <a:t>Sourced from Kaggle, collected from vehicles across California. Contains 120,000 trip records with 26 telemetry features capturing detailed driving behavior.</a:t>
            </a:r>
          </a:p>
        </p:txBody>
      </p:sp>
      <p:sp>
        <p:nvSpPr>
          <p:cNvPr id="18" name="Rectangle 17"/>
          <p:cNvSpPr/>
          <p:nvPr/>
        </p:nvSpPr>
        <p:spPr>
          <a:xfrm>
            <a:off x="6121400" y="2011561"/>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ectangle 18"/>
          <p:cNvSpPr/>
          <p:nvPr/>
        </p:nvSpPr>
        <p:spPr>
          <a:xfrm>
            <a:off x="6121400" y="2011561"/>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Rectangle 19"/>
          <p:cNvSpPr/>
          <p:nvPr/>
        </p:nvSpPr>
        <p:spPr>
          <a:xfrm>
            <a:off x="6121400" y="2011561"/>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Rectangle 20"/>
          <p:cNvSpPr/>
          <p:nvPr/>
        </p:nvSpPr>
        <p:spPr>
          <a:xfrm>
            <a:off x="8699500" y="2011560"/>
            <a:ext cx="406400" cy="406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p:cNvSpPr txBox="1"/>
          <p:nvPr/>
        </p:nvSpPr>
        <p:spPr>
          <a:xfrm>
            <a:off x="8699500" y="2011560"/>
            <a:ext cx="406400" cy="369332"/>
          </a:xfrm>
          <a:prstGeom prst="rect">
            <a:avLst/>
          </a:prstGeom>
          <a:noFill/>
          <a:ln>
            <a:noFill/>
          </a:ln>
        </p:spPr>
        <p:txBody>
          <a:bodyPr wrap="square" lIns="0" tIns="0" rIns="0" bIns="0" anchor="t">
            <a:spAutoFit/>
          </a:bodyPr>
          <a:lstStyle/>
          <a:p>
            <a:pPr algn="ctr"/>
            <a:endParaRPr sz="2400"/>
          </a:p>
        </p:txBody>
      </p:sp>
      <p:pic>
        <p:nvPicPr>
          <p:cNvPr id="23" name="Picture 22" descr="tmph0qr9co8.png"/>
          <p:cNvPicPr>
            <a:picLocks noChangeAspect="1"/>
          </p:cNvPicPr>
          <p:nvPr/>
        </p:nvPicPr>
        <p:blipFill>
          <a:blip r:embed="rId3"/>
          <a:stretch>
            <a:fillRect/>
          </a:stretch>
        </p:blipFill>
        <p:spPr>
          <a:xfrm>
            <a:off x="8699500" y="2011560"/>
            <a:ext cx="406400" cy="406400"/>
          </a:xfrm>
          <a:prstGeom prst="rect">
            <a:avLst/>
          </a:prstGeom>
        </p:spPr>
      </p:pic>
      <p:sp>
        <p:nvSpPr>
          <p:cNvPr id="24" name="TextBox 23"/>
          <p:cNvSpPr txBox="1"/>
          <p:nvPr/>
        </p:nvSpPr>
        <p:spPr>
          <a:xfrm>
            <a:off x="6121400" y="2570361"/>
            <a:ext cx="5562600" cy="1128642"/>
          </a:xfrm>
          <a:prstGeom prst="rect">
            <a:avLst/>
          </a:prstGeom>
          <a:noFill/>
          <a:ln>
            <a:noFill/>
          </a:ln>
        </p:spPr>
        <p:txBody>
          <a:bodyPr wrap="square" lIns="0" tIns="0" rIns="0" bIns="0" anchor="t">
            <a:spAutoFit/>
          </a:bodyPr>
          <a:lstStyle/>
          <a:p>
            <a:pPr algn="ctr"/>
            <a:r>
              <a:rPr sz="1733" b="1" dirty="0">
                <a:solidFill>
                  <a:srgbClr val="1F2728"/>
                </a:solidFill>
                <a:latin typeface="Roboto"/>
              </a:rPr>
              <a:t>Telemetry Data Captured</a:t>
            </a:r>
          </a:p>
          <a:p>
            <a:pPr algn="ctr">
              <a:spcAft>
                <a:spcPts val="1600"/>
              </a:spcAft>
            </a:pPr>
            <a:r>
              <a:rPr sz="1867" dirty="0">
                <a:solidFill>
                  <a:srgbClr val="1F2728"/>
                </a:solidFill>
                <a:latin typeface="Roboto"/>
              </a:rPr>
              <a:t>Includes speed, acceleration, braking, steering angle, RPM, route deviation, anomalous events, and environmental context (weather, road type, traffic).</a:t>
            </a:r>
          </a:p>
        </p:txBody>
      </p:sp>
      <p:sp>
        <p:nvSpPr>
          <p:cNvPr id="25" name="Rectangle 24"/>
          <p:cNvSpPr/>
          <p:nvPr/>
        </p:nvSpPr>
        <p:spPr>
          <a:xfrm>
            <a:off x="304800" y="4368204"/>
            <a:ext cx="5562600" cy="2102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Rectangle 25"/>
          <p:cNvSpPr/>
          <p:nvPr/>
        </p:nvSpPr>
        <p:spPr>
          <a:xfrm>
            <a:off x="304800" y="4368205"/>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Rectangle 26"/>
          <p:cNvSpPr/>
          <p:nvPr/>
        </p:nvSpPr>
        <p:spPr>
          <a:xfrm>
            <a:off x="304800" y="4368205"/>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Rectangle 27"/>
          <p:cNvSpPr/>
          <p:nvPr/>
        </p:nvSpPr>
        <p:spPr>
          <a:xfrm>
            <a:off x="2882900" y="4368204"/>
            <a:ext cx="406400" cy="406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9" name="TextBox 28"/>
          <p:cNvSpPr txBox="1"/>
          <p:nvPr/>
        </p:nvSpPr>
        <p:spPr>
          <a:xfrm>
            <a:off x="2882900" y="4368204"/>
            <a:ext cx="406400" cy="369332"/>
          </a:xfrm>
          <a:prstGeom prst="rect">
            <a:avLst/>
          </a:prstGeom>
          <a:noFill/>
          <a:ln>
            <a:noFill/>
          </a:ln>
        </p:spPr>
        <p:txBody>
          <a:bodyPr wrap="square" lIns="0" tIns="0" rIns="0" bIns="0" anchor="t">
            <a:spAutoFit/>
          </a:bodyPr>
          <a:lstStyle/>
          <a:p>
            <a:pPr algn="ctr"/>
            <a:endParaRPr sz="2400"/>
          </a:p>
        </p:txBody>
      </p:sp>
      <p:pic>
        <p:nvPicPr>
          <p:cNvPr id="30" name="Picture 29" descr="tmp_7eqzs1u.png"/>
          <p:cNvPicPr>
            <a:picLocks noChangeAspect="1"/>
          </p:cNvPicPr>
          <p:nvPr/>
        </p:nvPicPr>
        <p:blipFill>
          <a:blip r:embed="rId4"/>
          <a:stretch>
            <a:fillRect/>
          </a:stretch>
        </p:blipFill>
        <p:spPr>
          <a:xfrm>
            <a:off x="2882900" y="4368204"/>
            <a:ext cx="406400" cy="406400"/>
          </a:xfrm>
          <a:prstGeom prst="rect">
            <a:avLst/>
          </a:prstGeom>
        </p:spPr>
      </p:pic>
      <p:sp>
        <p:nvSpPr>
          <p:cNvPr id="31" name="TextBox 30"/>
          <p:cNvSpPr txBox="1"/>
          <p:nvPr/>
        </p:nvSpPr>
        <p:spPr>
          <a:xfrm>
            <a:off x="304800" y="4927004"/>
            <a:ext cx="5562600" cy="1128642"/>
          </a:xfrm>
          <a:prstGeom prst="rect">
            <a:avLst/>
          </a:prstGeom>
          <a:noFill/>
          <a:ln>
            <a:noFill/>
          </a:ln>
        </p:spPr>
        <p:txBody>
          <a:bodyPr wrap="square" lIns="0" tIns="0" rIns="0" bIns="0" anchor="t">
            <a:spAutoFit/>
          </a:bodyPr>
          <a:lstStyle/>
          <a:p>
            <a:pPr algn="ctr"/>
            <a:r>
              <a:rPr sz="1733" b="1" dirty="0">
                <a:solidFill>
                  <a:srgbClr val="1F2728"/>
                </a:solidFill>
                <a:latin typeface="Roboto"/>
              </a:rPr>
              <a:t>Data Characteristics</a:t>
            </a:r>
          </a:p>
          <a:p>
            <a:pPr algn="ctr">
              <a:spcAft>
                <a:spcPts val="1600"/>
              </a:spcAft>
            </a:pPr>
            <a:r>
              <a:rPr sz="1867" dirty="0">
                <a:solidFill>
                  <a:srgbClr val="1F2728"/>
                </a:solidFill>
                <a:latin typeface="Roboto"/>
              </a:rPr>
              <a:t>No missing or duplicate values, clean dataset without outliers, though class imbalance exists in anomaly labels.</a:t>
            </a:r>
          </a:p>
        </p:txBody>
      </p:sp>
      <p:sp>
        <p:nvSpPr>
          <p:cNvPr id="32" name="Rectangle 31"/>
          <p:cNvSpPr/>
          <p:nvPr/>
        </p:nvSpPr>
        <p:spPr>
          <a:xfrm>
            <a:off x="6121400" y="4368204"/>
            <a:ext cx="5562600" cy="210264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Rectangle 32"/>
          <p:cNvSpPr/>
          <p:nvPr/>
        </p:nvSpPr>
        <p:spPr>
          <a:xfrm>
            <a:off x="6121400" y="4368205"/>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4" name="Rectangle 33"/>
          <p:cNvSpPr/>
          <p:nvPr/>
        </p:nvSpPr>
        <p:spPr>
          <a:xfrm>
            <a:off x="6121400" y="4368205"/>
            <a:ext cx="5562600" cy="2102247"/>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Rectangle 34"/>
          <p:cNvSpPr/>
          <p:nvPr/>
        </p:nvSpPr>
        <p:spPr>
          <a:xfrm>
            <a:off x="8699500" y="4368204"/>
            <a:ext cx="406400" cy="406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8699500" y="4368204"/>
            <a:ext cx="406400" cy="369332"/>
          </a:xfrm>
          <a:prstGeom prst="rect">
            <a:avLst/>
          </a:prstGeom>
          <a:noFill/>
          <a:ln>
            <a:noFill/>
          </a:ln>
        </p:spPr>
        <p:txBody>
          <a:bodyPr wrap="square" lIns="0" tIns="0" rIns="0" bIns="0" anchor="t">
            <a:spAutoFit/>
          </a:bodyPr>
          <a:lstStyle/>
          <a:p>
            <a:pPr algn="ctr"/>
            <a:endParaRPr sz="2400"/>
          </a:p>
        </p:txBody>
      </p:sp>
      <p:pic>
        <p:nvPicPr>
          <p:cNvPr id="37" name="Picture 36" descr="tmpzge3vunh.png"/>
          <p:cNvPicPr>
            <a:picLocks noChangeAspect="1"/>
          </p:cNvPicPr>
          <p:nvPr/>
        </p:nvPicPr>
        <p:blipFill>
          <a:blip r:embed="rId5"/>
          <a:stretch>
            <a:fillRect/>
          </a:stretch>
        </p:blipFill>
        <p:spPr>
          <a:xfrm>
            <a:off x="8699500" y="4368204"/>
            <a:ext cx="406400" cy="406400"/>
          </a:xfrm>
          <a:prstGeom prst="rect">
            <a:avLst/>
          </a:prstGeom>
        </p:spPr>
      </p:pic>
      <p:sp>
        <p:nvSpPr>
          <p:cNvPr id="38" name="TextBox 37"/>
          <p:cNvSpPr txBox="1"/>
          <p:nvPr/>
        </p:nvSpPr>
        <p:spPr>
          <a:xfrm>
            <a:off x="6121400" y="4927005"/>
            <a:ext cx="5562600" cy="1415965"/>
          </a:xfrm>
          <a:prstGeom prst="rect">
            <a:avLst/>
          </a:prstGeom>
          <a:noFill/>
          <a:ln>
            <a:noFill/>
          </a:ln>
        </p:spPr>
        <p:txBody>
          <a:bodyPr wrap="square" lIns="0" tIns="0" rIns="0" bIns="0" anchor="t">
            <a:spAutoFit/>
          </a:bodyPr>
          <a:lstStyle/>
          <a:p>
            <a:pPr algn="ctr"/>
            <a:r>
              <a:rPr sz="1733" b="1" dirty="0">
                <a:solidFill>
                  <a:srgbClr val="1F2728"/>
                </a:solidFill>
                <a:latin typeface="Roboto"/>
              </a:rPr>
              <a:t>Analysis Problems Addressed</a:t>
            </a:r>
          </a:p>
          <a:p>
            <a:pPr algn="ctr">
              <a:spcAft>
                <a:spcPts val="1600"/>
              </a:spcAft>
            </a:pPr>
            <a:r>
              <a:rPr sz="1867" dirty="0">
                <a:solidFill>
                  <a:srgbClr val="1F2728"/>
                </a:solidFill>
                <a:latin typeface="Roboto"/>
              </a:rPr>
              <a:t>Anomaly classification to detect unsafe events, fuel consumption regression to predict trip usage, and clustering to group drivers by smooth or aggressive behavior.</a:t>
            </a:r>
          </a:p>
        </p:txBody>
      </p:sp>
      <p:sp>
        <p:nvSpPr>
          <p:cNvPr id="3" name="Slide Number Placeholder 2">
            <a:extLst>
              <a:ext uri="{FF2B5EF4-FFF2-40B4-BE49-F238E27FC236}">
                <a16:creationId xmlns:a16="http://schemas.microsoft.com/office/drawing/2014/main" id="{C489737C-C479-FE61-B55D-A4B8A99305AC}"/>
              </a:ext>
            </a:extLst>
          </p:cNvPr>
          <p:cNvSpPr>
            <a:spLocks noGrp="1"/>
          </p:cNvSpPr>
          <p:nvPr>
            <p:ph type="sldNum" idx="12"/>
          </p:nvPr>
        </p:nvSpPr>
        <p:spPr/>
        <p:txBody>
          <a:bodyPr>
            <a:normAutofit fontScale="47500" lnSpcReduction="20000"/>
          </a:bodyPr>
          <a:lstStyle/>
          <a:p>
            <a:fld id="{00000000-1234-1234-1234-123412341234}" type="slidenum">
              <a:rPr lang="en" smtClean="0"/>
              <a:pPr/>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4A7F-DDBD-651D-CA68-34D18F6B935E}"/>
              </a:ext>
            </a:extLst>
          </p:cNvPr>
          <p:cNvSpPr>
            <a:spLocks noGrp="1"/>
          </p:cNvSpPr>
          <p:nvPr>
            <p:ph type="title"/>
          </p:nvPr>
        </p:nvSpPr>
        <p:spPr>
          <a:xfrm>
            <a:off x="207495" y="0"/>
            <a:ext cx="10515600" cy="957018"/>
          </a:xfrm>
        </p:spPr>
        <p:txBody>
          <a:bodyPr>
            <a:normAutofit/>
          </a:bodyPr>
          <a:lstStyle/>
          <a:p>
            <a:r>
              <a:rPr lang="en-US" sz="4000" dirty="0"/>
              <a:t>EDA for Fuel Prediction</a:t>
            </a:r>
          </a:p>
        </p:txBody>
      </p:sp>
      <p:sp>
        <p:nvSpPr>
          <p:cNvPr id="3" name="Footer Placeholder 2">
            <a:extLst>
              <a:ext uri="{FF2B5EF4-FFF2-40B4-BE49-F238E27FC236}">
                <a16:creationId xmlns:a16="http://schemas.microsoft.com/office/drawing/2014/main" id="{CCE6992B-690A-0673-9B09-2818DBE62A24}"/>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07912374-AF6C-7723-1D7D-4BA91D209B29}"/>
              </a:ext>
            </a:extLst>
          </p:cNvPr>
          <p:cNvSpPr>
            <a:spLocks noGrp="1"/>
          </p:cNvSpPr>
          <p:nvPr>
            <p:ph type="sldNum" sz="quarter" idx="12"/>
          </p:nvPr>
        </p:nvSpPr>
        <p:spPr/>
        <p:txBody>
          <a:bodyPr/>
          <a:lstStyle/>
          <a:p>
            <a:fld id="{BF1758FF-0BF1-4103-A89A-38EC40E85429}" type="slidenum">
              <a:rPr lang="en-SG" smtClean="0"/>
              <a:t>5</a:t>
            </a:fld>
            <a:endParaRPr lang="en-SG" dirty="0"/>
          </a:p>
        </p:txBody>
      </p:sp>
      <p:pic>
        <p:nvPicPr>
          <p:cNvPr id="8" name="Picture 7">
            <a:extLst>
              <a:ext uri="{FF2B5EF4-FFF2-40B4-BE49-F238E27FC236}">
                <a16:creationId xmlns:a16="http://schemas.microsoft.com/office/drawing/2014/main" id="{B6D4AB87-2C71-965B-D437-5F06053070F0}"/>
              </a:ext>
            </a:extLst>
          </p:cNvPr>
          <p:cNvPicPr>
            <a:picLocks noChangeAspect="1"/>
          </p:cNvPicPr>
          <p:nvPr/>
        </p:nvPicPr>
        <p:blipFill>
          <a:blip r:embed="rId2"/>
          <a:stretch>
            <a:fillRect/>
          </a:stretch>
        </p:blipFill>
        <p:spPr>
          <a:xfrm>
            <a:off x="5953759" y="879567"/>
            <a:ext cx="6151031" cy="5372222"/>
          </a:xfrm>
          <a:prstGeom prst="rect">
            <a:avLst/>
          </a:prstGeom>
        </p:spPr>
      </p:pic>
      <p:sp>
        <p:nvSpPr>
          <p:cNvPr id="12" name="TextBox 11">
            <a:extLst>
              <a:ext uri="{FF2B5EF4-FFF2-40B4-BE49-F238E27FC236}">
                <a16:creationId xmlns:a16="http://schemas.microsoft.com/office/drawing/2014/main" id="{C196CF20-E9F5-2C24-0A2A-72FE41B1DF51}"/>
              </a:ext>
            </a:extLst>
          </p:cNvPr>
          <p:cNvSpPr txBox="1"/>
          <p:nvPr/>
        </p:nvSpPr>
        <p:spPr>
          <a:xfrm>
            <a:off x="230717" y="979510"/>
            <a:ext cx="6151032" cy="5755422"/>
          </a:xfrm>
          <a:prstGeom prst="rect">
            <a:avLst/>
          </a:prstGeom>
          <a:noFill/>
        </p:spPr>
        <p:txBody>
          <a:bodyPr wrap="square">
            <a:spAutoFit/>
          </a:bodyPr>
          <a:lstStyle/>
          <a:p>
            <a:pPr marL="228600" indent="-91440">
              <a:buSzPct val="83333"/>
              <a:buFont typeface="Arial"/>
              <a:buChar char="•"/>
            </a:pPr>
            <a:r>
              <a:rPr lang="en-US" sz="1600" b="1" dirty="0">
                <a:solidFill>
                  <a:srgbClr val="1F2728"/>
                </a:solidFill>
                <a:latin typeface="Roboto"/>
              </a:rPr>
              <a:t>Feature Relationships:</a:t>
            </a:r>
            <a:r>
              <a:rPr lang="en-US" sz="1600" dirty="0">
                <a:solidFill>
                  <a:srgbClr val="1F2728"/>
                </a:solidFill>
                <a:latin typeface="Roboto"/>
              </a:rPr>
              <a:t> All linear correlations with fuel are &lt;0.01, showing no linear signal. Weak non-linear effects observed from trip distance, duration, acceleration variation, and braking events. Speed and RPM are scattered with no clear trend.</a:t>
            </a:r>
          </a:p>
          <a:p>
            <a:pPr marL="228600" indent="-91440">
              <a:buSzPct val="83333"/>
              <a:buFont typeface="Arial"/>
              <a:buChar char="•"/>
            </a:pPr>
            <a:endParaRPr lang="en-US" sz="1600" dirty="0">
              <a:solidFill>
                <a:srgbClr val="1F2728"/>
              </a:solidFill>
              <a:latin typeface="Roboto"/>
            </a:endParaRPr>
          </a:p>
          <a:p>
            <a:pPr marL="228600" indent="-91440">
              <a:buSzPct val="83333"/>
              <a:buFont typeface="Arial"/>
              <a:buChar char="•"/>
            </a:pPr>
            <a:endParaRPr lang="en-US" sz="1600" dirty="0">
              <a:solidFill>
                <a:srgbClr val="1F2728"/>
              </a:solidFill>
              <a:latin typeface="Roboto"/>
            </a:endParaRPr>
          </a:p>
          <a:p>
            <a:pPr marL="228600" lvl="1" indent="-91440">
              <a:buSzPct val="83333"/>
              <a:buFont typeface="Arial"/>
              <a:buChar char="•"/>
            </a:pPr>
            <a:r>
              <a:rPr lang="en-US" sz="1600" b="1" dirty="0">
                <a:solidFill>
                  <a:srgbClr val="1F2728"/>
                </a:solidFill>
                <a:latin typeface="Roboto"/>
              </a:rPr>
              <a:t>Categorical Effects:</a:t>
            </a:r>
            <a:r>
              <a:rPr lang="en-US" sz="1600" dirty="0">
                <a:solidFill>
                  <a:srgbClr val="1F2728"/>
                </a:solidFill>
                <a:latin typeface="Roboto"/>
              </a:rPr>
              <a:t> Weather (rain/fog) slightly increases fuel use. Heavy traffic correlates with higher fuel consumption. Highways consume marginally more than rural or urban roads.</a:t>
            </a:r>
          </a:p>
          <a:p>
            <a:pPr marL="228600" lvl="1" indent="-91440">
              <a:buSzPct val="83333"/>
              <a:buFont typeface="Arial"/>
              <a:buChar char="•"/>
            </a:pPr>
            <a:endParaRPr lang="en-US" sz="1600" dirty="0">
              <a:solidFill>
                <a:srgbClr val="1F2728"/>
              </a:solidFill>
              <a:latin typeface="Roboto"/>
            </a:endParaRPr>
          </a:p>
          <a:p>
            <a:pPr marL="228600" lvl="1" indent="-91440">
              <a:buSzPct val="83333"/>
              <a:buFont typeface="Arial"/>
              <a:buChar char="•"/>
            </a:pPr>
            <a:endParaRPr lang="en-US" sz="1600" dirty="0">
              <a:solidFill>
                <a:srgbClr val="1F2728"/>
              </a:solidFill>
              <a:latin typeface="Roboto"/>
            </a:endParaRPr>
          </a:p>
          <a:p>
            <a:pPr marL="228600" lvl="1" indent="-91440">
              <a:buSzPct val="83333"/>
              <a:buFont typeface="Arial"/>
              <a:buChar char="•"/>
            </a:pPr>
            <a:r>
              <a:rPr lang="en-US" sz="1600" b="1" dirty="0">
                <a:solidFill>
                  <a:srgbClr val="1F2728"/>
                </a:solidFill>
                <a:latin typeface="Roboto"/>
              </a:rPr>
              <a:t>Target Variable Behavior:</a:t>
            </a:r>
            <a:r>
              <a:rPr lang="en-US" sz="1600" dirty="0">
                <a:solidFill>
                  <a:srgbClr val="1F2728"/>
                </a:solidFill>
                <a:latin typeface="Roboto"/>
              </a:rPr>
              <a:t> Fuel consumption is highly right-skewed (0–50+ L), with mean ≈ 5.0 L and std ≈ 5.0 L. Q–Q plot confirms strong non-normality and high variability.</a:t>
            </a:r>
          </a:p>
          <a:p>
            <a:pPr marL="228600" lvl="1" indent="-91440">
              <a:buSzPct val="83333"/>
              <a:buFont typeface="Arial"/>
              <a:buChar char="•"/>
            </a:pPr>
            <a:endParaRPr lang="en-US" sz="1600" dirty="0">
              <a:solidFill>
                <a:srgbClr val="1F2728"/>
              </a:solidFill>
              <a:latin typeface="Roboto"/>
            </a:endParaRPr>
          </a:p>
          <a:p>
            <a:pPr marL="228600" lvl="1" indent="-91440">
              <a:buSzPct val="83333"/>
              <a:buFont typeface="Arial"/>
              <a:buChar char="•"/>
            </a:pPr>
            <a:endParaRPr lang="en-US" sz="1600" dirty="0">
              <a:solidFill>
                <a:srgbClr val="1F2728"/>
              </a:solidFill>
              <a:latin typeface="Roboto"/>
            </a:endParaRPr>
          </a:p>
          <a:p>
            <a:pPr marL="228600" lvl="1" indent="-91440">
              <a:buSzPct val="83333"/>
              <a:buFont typeface="Arial"/>
              <a:buChar char="•"/>
            </a:pPr>
            <a:r>
              <a:rPr lang="en-US" sz="1600" b="1" dirty="0">
                <a:solidFill>
                  <a:srgbClr val="1F2728"/>
                </a:solidFill>
                <a:latin typeface="Roboto"/>
              </a:rPr>
              <a:t>Conclusions &amp; Recommendations:</a:t>
            </a:r>
            <a:r>
              <a:rPr lang="en-US" sz="1600" dirty="0">
                <a:solidFill>
                  <a:srgbClr val="1F2728"/>
                </a:solidFill>
                <a:latin typeface="Roboto"/>
              </a:rPr>
              <a:t> Fuel shows weak linear relationships and strong noise. Linear regression performs poorly (</a:t>
            </a:r>
            <a:r>
              <a:rPr lang="en-US" sz="1600" dirty="0" err="1">
                <a:solidFill>
                  <a:srgbClr val="1F2728"/>
                </a:solidFill>
                <a:latin typeface="Roboto"/>
              </a:rPr>
              <a:t>R²</a:t>
            </a:r>
            <a:r>
              <a:rPr lang="en-US" sz="1600" dirty="0">
                <a:solidFill>
                  <a:srgbClr val="1F2728"/>
                </a:solidFill>
                <a:latin typeface="Roboto"/>
              </a:rPr>
              <a:t> ≈ 0). Nonlinear approaches—ensemble models, interaction terms, or deep learning—recommended for improved prediction.</a:t>
            </a:r>
          </a:p>
          <a:p>
            <a:pPr>
              <a:buNone/>
            </a:pPr>
            <a:endParaRPr lang="en-US" sz="1600" dirty="0"/>
          </a:p>
        </p:txBody>
      </p:sp>
    </p:spTree>
    <p:extLst>
      <p:ext uri="{BB962C8B-B14F-4D97-AF65-F5344CB8AC3E}">
        <p14:creationId xmlns:p14="http://schemas.microsoft.com/office/powerpoint/2010/main" val="2008191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D8F1D-7948-EB81-B710-A78B4E40E2B3}"/>
              </a:ext>
            </a:extLst>
          </p:cNvPr>
          <p:cNvSpPr>
            <a:spLocks noGrp="1"/>
          </p:cNvSpPr>
          <p:nvPr>
            <p:ph type="title"/>
          </p:nvPr>
        </p:nvSpPr>
        <p:spPr>
          <a:xfrm>
            <a:off x="365518" y="64526"/>
            <a:ext cx="10515600" cy="775698"/>
          </a:xfrm>
        </p:spPr>
        <p:txBody>
          <a:bodyPr>
            <a:normAutofit/>
          </a:bodyPr>
          <a:lstStyle/>
          <a:p>
            <a:r>
              <a:rPr lang="en-US" sz="4000" dirty="0"/>
              <a:t>Model Selection and Model Performance</a:t>
            </a:r>
          </a:p>
        </p:txBody>
      </p:sp>
      <p:pic>
        <p:nvPicPr>
          <p:cNvPr id="7" name="Content Placeholder 6">
            <a:extLst>
              <a:ext uri="{FF2B5EF4-FFF2-40B4-BE49-F238E27FC236}">
                <a16:creationId xmlns:a16="http://schemas.microsoft.com/office/drawing/2014/main" id="{24B7FF83-8DC7-4EAE-8493-CEFB8A404B1C}"/>
              </a:ext>
            </a:extLst>
          </p:cNvPr>
          <p:cNvPicPr>
            <a:picLocks noGrp="1" noChangeAspect="1"/>
          </p:cNvPicPr>
          <p:nvPr>
            <p:ph idx="1"/>
          </p:nvPr>
        </p:nvPicPr>
        <p:blipFill>
          <a:blip r:embed="rId2"/>
          <a:stretch>
            <a:fillRect/>
          </a:stretch>
        </p:blipFill>
        <p:spPr>
          <a:xfrm>
            <a:off x="357051" y="1079661"/>
            <a:ext cx="5266267" cy="2668926"/>
          </a:xfrm>
        </p:spPr>
      </p:pic>
      <p:sp>
        <p:nvSpPr>
          <p:cNvPr id="4" name="Footer Placeholder 3">
            <a:extLst>
              <a:ext uri="{FF2B5EF4-FFF2-40B4-BE49-F238E27FC236}">
                <a16:creationId xmlns:a16="http://schemas.microsoft.com/office/drawing/2014/main" id="{7D666F15-1AFB-D03D-2917-F0E2ADAB93AE}"/>
              </a:ext>
            </a:extLst>
          </p:cNvPr>
          <p:cNvSpPr>
            <a:spLocks noGrp="1"/>
          </p:cNvSpPr>
          <p:nvPr>
            <p:ph type="ftr" sz="quarter" idx="11"/>
          </p:nvPr>
        </p:nvSpPr>
        <p:spPr/>
        <p:txBody>
          <a:bodyPr/>
          <a:lstStyle/>
          <a:p>
            <a:r>
              <a:rPr lang="it-IT"/>
              <a:t>DA 204o: Data Science in Practice</a:t>
            </a:r>
            <a:endParaRPr lang="en-SG"/>
          </a:p>
        </p:txBody>
      </p:sp>
      <p:sp>
        <p:nvSpPr>
          <p:cNvPr id="5" name="Slide Number Placeholder 4">
            <a:extLst>
              <a:ext uri="{FF2B5EF4-FFF2-40B4-BE49-F238E27FC236}">
                <a16:creationId xmlns:a16="http://schemas.microsoft.com/office/drawing/2014/main" id="{ED9309E1-E095-C0F5-4244-097AB0EE1553}"/>
              </a:ext>
            </a:extLst>
          </p:cNvPr>
          <p:cNvSpPr>
            <a:spLocks noGrp="1"/>
          </p:cNvSpPr>
          <p:nvPr>
            <p:ph type="sldNum" sz="quarter" idx="12"/>
          </p:nvPr>
        </p:nvSpPr>
        <p:spPr/>
        <p:txBody>
          <a:bodyPr/>
          <a:lstStyle/>
          <a:p>
            <a:fld id="{BF1758FF-0BF1-4103-A89A-38EC40E85429}" type="slidenum">
              <a:rPr lang="en-SG" smtClean="0"/>
              <a:pPr/>
              <a:t>6</a:t>
            </a:fld>
            <a:endParaRPr lang="en-SG"/>
          </a:p>
        </p:txBody>
      </p:sp>
      <p:pic>
        <p:nvPicPr>
          <p:cNvPr id="17" name="Picture 16">
            <a:extLst>
              <a:ext uri="{FF2B5EF4-FFF2-40B4-BE49-F238E27FC236}">
                <a16:creationId xmlns:a16="http://schemas.microsoft.com/office/drawing/2014/main" id="{854FD0C0-B2AC-32BB-4F33-A63F7B05FD0B}"/>
              </a:ext>
            </a:extLst>
          </p:cNvPr>
          <p:cNvPicPr>
            <a:picLocks noChangeAspect="1"/>
          </p:cNvPicPr>
          <p:nvPr/>
        </p:nvPicPr>
        <p:blipFill>
          <a:blip r:embed="rId3"/>
          <a:stretch>
            <a:fillRect/>
          </a:stretch>
        </p:blipFill>
        <p:spPr>
          <a:xfrm>
            <a:off x="444137" y="3748587"/>
            <a:ext cx="4937760" cy="2657038"/>
          </a:xfrm>
          <a:prstGeom prst="rect">
            <a:avLst/>
          </a:prstGeom>
        </p:spPr>
      </p:pic>
      <p:sp>
        <p:nvSpPr>
          <p:cNvPr id="21" name="TextBox 20">
            <a:extLst>
              <a:ext uri="{FF2B5EF4-FFF2-40B4-BE49-F238E27FC236}">
                <a16:creationId xmlns:a16="http://schemas.microsoft.com/office/drawing/2014/main" id="{CFD5F10B-9138-92D2-7E0F-DA4FE1A1E826}"/>
              </a:ext>
            </a:extLst>
          </p:cNvPr>
          <p:cNvSpPr txBox="1"/>
          <p:nvPr/>
        </p:nvSpPr>
        <p:spPr>
          <a:xfrm>
            <a:off x="5468983" y="1254024"/>
            <a:ext cx="6061407" cy="4585871"/>
          </a:xfrm>
          <a:prstGeom prst="rect">
            <a:avLst/>
          </a:prstGeom>
          <a:noFill/>
        </p:spPr>
        <p:txBody>
          <a:bodyPr wrap="square">
            <a:spAutoFit/>
          </a:bodyPr>
          <a:lstStyle/>
          <a:p>
            <a:pPr>
              <a:buNone/>
            </a:pPr>
            <a:r>
              <a:rPr lang="en-US" sz="2000" b="1" dirty="0"/>
              <a:t>Conclusions </a:t>
            </a:r>
          </a:p>
          <a:p>
            <a:pPr>
              <a:buNone/>
            </a:pPr>
            <a:r>
              <a:rPr lang="en-US" sz="1600" b="1" dirty="0"/>
              <a:t>Model Performance</a:t>
            </a:r>
            <a:endParaRPr lang="en-US" sz="1600" dirty="0"/>
          </a:p>
          <a:p>
            <a:pPr>
              <a:buFont typeface="Arial" panose="020B0604020202020204" pitchFamily="34" charset="0"/>
              <a:buChar char="•"/>
            </a:pPr>
            <a:r>
              <a:rPr lang="en-US" sz="1600" dirty="0"/>
              <a:t>Boosting methods perform best and train efficiently</a:t>
            </a:r>
          </a:p>
          <a:p>
            <a:pPr>
              <a:buFont typeface="Arial" panose="020B0604020202020204" pitchFamily="34" charset="0"/>
              <a:buChar char="•"/>
            </a:pPr>
            <a:r>
              <a:rPr lang="en-US" sz="1600" dirty="0"/>
              <a:t>All models show near-zero </a:t>
            </a:r>
            <a:r>
              <a:rPr lang="en-US" sz="1600" dirty="0" err="1"/>
              <a:t>R²</a:t>
            </a:r>
            <a:r>
              <a:rPr lang="en-US" sz="1600" dirty="0"/>
              <a:t>, meaning fuel is inherently hard to predict</a:t>
            </a:r>
          </a:p>
          <a:p>
            <a:pPr>
              <a:buFont typeface="Arial" panose="020B0604020202020204" pitchFamily="34" charset="0"/>
              <a:buChar char="•"/>
            </a:pPr>
            <a:r>
              <a:rPr lang="en-US" sz="1600" dirty="0"/>
              <a:t>Simple models fail due to non-linearity and high noise</a:t>
            </a:r>
          </a:p>
          <a:p>
            <a:endParaRPr lang="en-US" sz="1600" dirty="0"/>
          </a:p>
          <a:p>
            <a:pPr>
              <a:buNone/>
            </a:pPr>
            <a:r>
              <a:rPr lang="en-US" sz="1600" b="1" dirty="0"/>
              <a:t>Data Limitations</a:t>
            </a:r>
            <a:endParaRPr lang="en-US" sz="1600" dirty="0"/>
          </a:p>
          <a:p>
            <a:pPr>
              <a:buFont typeface="Arial" panose="020B0604020202020204" pitchFamily="34" charset="0"/>
              <a:buChar char="•"/>
            </a:pPr>
            <a:r>
              <a:rPr lang="en-US" sz="1600" dirty="0"/>
              <a:t>Very weak feature–target relationships (&lt;0.01 correlation)</a:t>
            </a:r>
          </a:p>
          <a:p>
            <a:pPr>
              <a:buFont typeface="Arial" panose="020B0604020202020204" pitchFamily="34" charset="0"/>
              <a:buChar char="•"/>
            </a:pPr>
            <a:r>
              <a:rPr lang="en-US" sz="1600" dirty="0"/>
              <a:t>Missing key info (vehicle specs, fuel type, load, engine behavior)</a:t>
            </a:r>
          </a:p>
          <a:p>
            <a:pPr>
              <a:buFont typeface="Arial" panose="020B0604020202020204" pitchFamily="34" charset="0"/>
              <a:buChar char="•"/>
            </a:pPr>
            <a:r>
              <a:rPr lang="en-US" sz="1600" dirty="0"/>
              <a:t>Current features capture &lt;3% variance</a:t>
            </a:r>
          </a:p>
          <a:p>
            <a:pPr>
              <a:buFont typeface="Arial" panose="020B0604020202020204" pitchFamily="34" charset="0"/>
              <a:buChar char="•"/>
            </a:pPr>
            <a:endParaRPr lang="en-US" sz="1600" b="1" dirty="0"/>
          </a:p>
          <a:p>
            <a:endParaRPr lang="en-US" sz="1600" dirty="0"/>
          </a:p>
          <a:p>
            <a:pPr>
              <a:buNone/>
            </a:pPr>
            <a:r>
              <a:rPr lang="en-US" sz="1600" b="1" dirty="0"/>
              <a:t>Next Steps</a:t>
            </a:r>
            <a:endParaRPr lang="en-US" sz="1600" dirty="0"/>
          </a:p>
          <a:p>
            <a:pPr>
              <a:buFont typeface="+mj-lt"/>
              <a:buAutoNum type="arabicPeriod"/>
            </a:pPr>
            <a:r>
              <a:rPr lang="en-US" sz="1600" dirty="0"/>
              <a:t>Feature engineering: Interaction terms, polynomial features, temporal features</a:t>
            </a:r>
          </a:p>
          <a:p>
            <a:pPr>
              <a:buFont typeface="+mj-lt"/>
              <a:buAutoNum type="arabicPeriod"/>
            </a:pPr>
            <a:r>
              <a:rPr lang="en-US" sz="1600" dirty="0"/>
              <a:t>Collect more data: Vehicle metadata, engine metrics, fuel type</a:t>
            </a:r>
          </a:p>
          <a:p>
            <a:pPr>
              <a:buFont typeface="+mj-lt"/>
              <a:buAutoNum type="arabicPeriod"/>
            </a:pPr>
            <a:r>
              <a:rPr lang="en-US" sz="1600" dirty="0"/>
              <a:t>Advanced modeling: Deep learning, hybrid stacking models</a:t>
            </a:r>
          </a:p>
        </p:txBody>
      </p:sp>
    </p:spTree>
    <p:extLst>
      <p:ext uri="{BB962C8B-B14F-4D97-AF65-F5344CB8AC3E}">
        <p14:creationId xmlns:p14="http://schemas.microsoft.com/office/powerpoint/2010/main" val="4242154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7846D-CEC6-1114-9E35-90F00949A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1793B-A414-DC76-3D4D-7456B543314F}"/>
              </a:ext>
            </a:extLst>
          </p:cNvPr>
          <p:cNvSpPr>
            <a:spLocks noGrp="1"/>
          </p:cNvSpPr>
          <p:nvPr>
            <p:ph type="title"/>
          </p:nvPr>
        </p:nvSpPr>
        <p:spPr>
          <a:xfrm>
            <a:off x="207495" y="0"/>
            <a:ext cx="10515600" cy="719667"/>
          </a:xfrm>
        </p:spPr>
        <p:txBody>
          <a:bodyPr>
            <a:normAutofit/>
          </a:bodyPr>
          <a:lstStyle/>
          <a:p>
            <a:r>
              <a:rPr lang="en-US" sz="4000" dirty="0"/>
              <a:t>Exploratory Data Analysis for Clustering</a:t>
            </a:r>
          </a:p>
        </p:txBody>
      </p:sp>
      <p:sp>
        <p:nvSpPr>
          <p:cNvPr id="3" name="Footer Placeholder 2">
            <a:extLst>
              <a:ext uri="{FF2B5EF4-FFF2-40B4-BE49-F238E27FC236}">
                <a16:creationId xmlns:a16="http://schemas.microsoft.com/office/drawing/2014/main" id="{32764A03-9583-8268-3E0E-C26418E6C565}"/>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F0CABC56-772F-37DA-434B-95C7F1EB8C4A}"/>
              </a:ext>
            </a:extLst>
          </p:cNvPr>
          <p:cNvSpPr>
            <a:spLocks noGrp="1"/>
          </p:cNvSpPr>
          <p:nvPr>
            <p:ph type="sldNum" sz="quarter" idx="12"/>
          </p:nvPr>
        </p:nvSpPr>
        <p:spPr>
          <a:xfrm>
            <a:off x="8695267" y="6325562"/>
            <a:ext cx="2743200" cy="365125"/>
          </a:xfrm>
        </p:spPr>
        <p:txBody>
          <a:bodyPr/>
          <a:lstStyle/>
          <a:p>
            <a:fld id="{BF1758FF-0BF1-4103-A89A-38EC40E85429}" type="slidenum">
              <a:rPr lang="en-SG" smtClean="0"/>
              <a:t>7</a:t>
            </a:fld>
            <a:endParaRPr lang="en-SG" dirty="0"/>
          </a:p>
        </p:txBody>
      </p:sp>
      <p:sp>
        <p:nvSpPr>
          <p:cNvPr id="12" name="TextBox 11">
            <a:extLst>
              <a:ext uri="{FF2B5EF4-FFF2-40B4-BE49-F238E27FC236}">
                <a16:creationId xmlns:a16="http://schemas.microsoft.com/office/drawing/2014/main" id="{C7A686F4-143B-F5E9-9E13-F565A00B1FE0}"/>
              </a:ext>
            </a:extLst>
          </p:cNvPr>
          <p:cNvSpPr txBox="1"/>
          <p:nvPr/>
        </p:nvSpPr>
        <p:spPr>
          <a:xfrm>
            <a:off x="124257" y="1051673"/>
            <a:ext cx="6151032" cy="5755422"/>
          </a:xfrm>
          <a:prstGeom prst="rect">
            <a:avLst/>
          </a:prstGeom>
          <a:noFill/>
        </p:spPr>
        <p:txBody>
          <a:bodyPr wrap="square">
            <a:spAutoFit/>
          </a:bodyPr>
          <a:lstStyle/>
          <a:p>
            <a:pPr marL="228600" indent="-91440">
              <a:buSzPct val="111111"/>
              <a:buFont typeface="Arial"/>
              <a:buChar char="•"/>
            </a:pPr>
            <a:r>
              <a:rPr lang="en-US" sz="1600" b="1" dirty="0">
                <a:solidFill>
                  <a:srgbClr val="1F2728"/>
                </a:solidFill>
              </a:rPr>
              <a:t>Behavior Feature Analysis:</a:t>
            </a:r>
            <a:r>
              <a:rPr lang="en-US" sz="1600" dirty="0">
                <a:solidFill>
                  <a:srgbClr val="1F2728"/>
                </a:solidFill>
              </a:rPr>
              <a:t> Key telemetry variables—speed, acceleration, brake usage, steering angle, lane deviation, acceleration variation, RPM, and route deviation—capture diverse behavioral signatures. Distributions show heavy tails, especially in acceleration and braking, revealing aggressive vs. smooth driving styles.</a:t>
            </a:r>
          </a:p>
          <a:p>
            <a:pPr marL="228600" indent="-91440">
              <a:buSzPct val="111111"/>
              <a:buFont typeface="Arial"/>
              <a:buChar char="•"/>
            </a:pPr>
            <a:endParaRPr lang="en-US" sz="1600" dirty="0">
              <a:solidFill>
                <a:srgbClr val="1F2728"/>
              </a:solidFill>
            </a:endParaRPr>
          </a:p>
          <a:p>
            <a:pPr marL="228600" lvl="1" indent="-91440">
              <a:buSzPct val="111111"/>
              <a:buFont typeface="Arial"/>
              <a:buChar char="•"/>
            </a:pPr>
            <a:r>
              <a:rPr lang="en-US" sz="1600" b="1" dirty="0">
                <a:solidFill>
                  <a:srgbClr val="1F2728"/>
                </a:solidFill>
              </a:rPr>
              <a:t>Correlation Insights:</a:t>
            </a:r>
            <a:r>
              <a:rPr lang="en-US" sz="1600" dirty="0">
                <a:solidFill>
                  <a:srgbClr val="1F2728"/>
                </a:solidFill>
              </a:rPr>
              <a:t> Pairwise correlations among behavior features are all below 0.02, indicating strong feature independence. No multicollinearity means each feature contributes distinct behavioral information, ideal for clustering methods such as K-Means and </a:t>
            </a:r>
            <a:r>
              <a:rPr lang="en-US" sz="1600" dirty="0" err="1">
                <a:solidFill>
                  <a:srgbClr val="1F2728"/>
                </a:solidFill>
              </a:rPr>
              <a:t>DBSCAN</a:t>
            </a:r>
            <a:r>
              <a:rPr lang="en-US" sz="1600" dirty="0">
                <a:solidFill>
                  <a:srgbClr val="1F2728"/>
                </a:solidFill>
              </a:rPr>
              <a:t>.</a:t>
            </a:r>
          </a:p>
          <a:p>
            <a:pPr marL="228600" lvl="1" indent="-91440">
              <a:buSzPct val="111111"/>
              <a:buFont typeface="Arial"/>
              <a:buChar char="•"/>
            </a:pPr>
            <a:endParaRPr lang="en-US" sz="1600" dirty="0">
              <a:solidFill>
                <a:srgbClr val="1F2728"/>
              </a:solidFill>
            </a:endParaRPr>
          </a:p>
          <a:p>
            <a:pPr marL="228600" lvl="1" indent="-91440">
              <a:buSzPct val="111111"/>
              <a:buFont typeface="Arial"/>
              <a:buChar char="•"/>
            </a:pPr>
            <a:r>
              <a:rPr lang="en-US" sz="1600" b="1" dirty="0">
                <a:solidFill>
                  <a:srgbClr val="1F2728"/>
                </a:solidFill>
              </a:rPr>
              <a:t>Statistical Observations:</a:t>
            </a:r>
            <a:r>
              <a:rPr lang="en-US" sz="1600" dirty="0">
                <a:solidFill>
                  <a:srgbClr val="1F2728"/>
                </a:solidFill>
              </a:rPr>
              <a:t> Behavioral features exhibit high variance and distinct distributions, confirming the presence of separable driving groups and strong anomaly signals.</a:t>
            </a:r>
          </a:p>
          <a:p>
            <a:pPr marL="228600" lvl="1" indent="-91440">
              <a:buSzPct val="111111"/>
              <a:buFont typeface="Arial"/>
              <a:buChar char="•"/>
            </a:pPr>
            <a:endParaRPr lang="en-US" sz="1600" dirty="0">
              <a:solidFill>
                <a:srgbClr val="1F2728"/>
              </a:solidFill>
            </a:endParaRPr>
          </a:p>
          <a:p>
            <a:pPr marL="228600" lvl="1" indent="-91440">
              <a:buSzPct val="111111"/>
              <a:buFont typeface="Arial"/>
              <a:buChar char="•"/>
            </a:pPr>
            <a:r>
              <a:rPr lang="en-US" sz="1600" b="1" dirty="0">
                <a:solidFill>
                  <a:srgbClr val="1F2728"/>
                </a:solidFill>
              </a:rPr>
              <a:t>Key Takeaways:</a:t>
            </a:r>
            <a:r>
              <a:rPr lang="en-US" sz="1600" dirty="0">
                <a:solidFill>
                  <a:srgbClr val="1F2728"/>
                </a:solidFill>
              </a:rPr>
              <a:t> Low correlation and high variability imply rich behavioral diversity. Clustering can effectively categorize risk levels and identify driving style anomalies, offering actionable insights for safety and performance optimization.</a:t>
            </a:r>
          </a:p>
          <a:p>
            <a:pPr marL="137160">
              <a:buSzPct val="83333"/>
            </a:pPr>
            <a:endParaRPr lang="en-US" sz="1600" dirty="0">
              <a:solidFill>
                <a:srgbClr val="1F2728"/>
              </a:solidFill>
              <a:latin typeface="Roboto"/>
            </a:endParaRPr>
          </a:p>
          <a:p>
            <a:pPr>
              <a:buNone/>
            </a:pPr>
            <a:endParaRPr lang="en-US" sz="1600" dirty="0"/>
          </a:p>
        </p:txBody>
      </p:sp>
      <p:pic>
        <p:nvPicPr>
          <p:cNvPr id="9" name="Picture 8">
            <a:extLst>
              <a:ext uri="{FF2B5EF4-FFF2-40B4-BE49-F238E27FC236}">
                <a16:creationId xmlns:a16="http://schemas.microsoft.com/office/drawing/2014/main" id="{EEB49066-AB7A-C58B-35FD-B6DF021147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918456"/>
            <a:ext cx="5719172" cy="5350933"/>
          </a:xfrm>
          <a:prstGeom prst="rect">
            <a:avLst/>
          </a:prstGeom>
        </p:spPr>
      </p:pic>
      <p:sp>
        <p:nvSpPr>
          <p:cNvPr id="10" name="TextBox 9">
            <a:extLst>
              <a:ext uri="{FF2B5EF4-FFF2-40B4-BE49-F238E27FC236}">
                <a16:creationId xmlns:a16="http://schemas.microsoft.com/office/drawing/2014/main" id="{7CFC22A4-B4F5-F4FC-C3A9-909D1AFC0944}"/>
              </a:ext>
            </a:extLst>
          </p:cNvPr>
          <p:cNvSpPr txBox="1"/>
          <p:nvPr/>
        </p:nvSpPr>
        <p:spPr>
          <a:xfrm>
            <a:off x="303546" y="687352"/>
            <a:ext cx="7358787" cy="707886"/>
          </a:xfrm>
          <a:prstGeom prst="rect">
            <a:avLst/>
          </a:prstGeom>
          <a:noFill/>
        </p:spPr>
        <p:txBody>
          <a:bodyPr wrap="square" rtlCol="0">
            <a:spAutoFit/>
          </a:bodyPr>
          <a:lstStyle/>
          <a:p>
            <a:r>
              <a:rPr lang="en-US" sz="2000" b="1" dirty="0"/>
              <a:t>Identifying Driver Behavior Patterns</a:t>
            </a:r>
          </a:p>
          <a:p>
            <a:endParaRPr lang="en-US" sz="2000" b="1" dirty="0"/>
          </a:p>
        </p:txBody>
      </p:sp>
    </p:spTree>
    <p:extLst>
      <p:ext uri="{BB962C8B-B14F-4D97-AF65-F5344CB8AC3E}">
        <p14:creationId xmlns:p14="http://schemas.microsoft.com/office/powerpoint/2010/main" val="1255441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8DA1F-9655-11BE-7922-697FE4E390FD}"/>
              </a:ext>
            </a:extLst>
          </p:cNvPr>
          <p:cNvSpPr>
            <a:spLocks noGrp="1"/>
          </p:cNvSpPr>
          <p:nvPr>
            <p:ph type="title"/>
          </p:nvPr>
        </p:nvSpPr>
        <p:spPr>
          <a:xfrm>
            <a:off x="838200" y="365126"/>
            <a:ext cx="10515600" cy="606940"/>
          </a:xfrm>
        </p:spPr>
        <p:txBody>
          <a:bodyPr>
            <a:normAutofit fontScale="90000"/>
          </a:bodyPr>
          <a:lstStyle/>
          <a:p>
            <a:r>
              <a:rPr lang="en-US" dirty="0"/>
              <a:t>Driver Behavior Classification Pipeline</a:t>
            </a:r>
          </a:p>
        </p:txBody>
      </p:sp>
      <p:sp>
        <p:nvSpPr>
          <p:cNvPr id="3" name="Footer Placeholder 2">
            <a:extLst>
              <a:ext uri="{FF2B5EF4-FFF2-40B4-BE49-F238E27FC236}">
                <a16:creationId xmlns:a16="http://schemas.microsoft.com/office/drawing/2014/main" id="{7B231095-6018-E294-4F12-EEAD045CA50C}"/>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F17A2533-1910-C9D9-01FD-B4B341292711}"/>
              </a:ext>
            </a:extLst>
          </p:cNvPr>
          <p:cNvSpPr>
            <a:spLocks noGrp="1"/>
          </p:cNvSpPr>
          <p:nvPr>
            <p:ph type="sldNum" sz="quarter" idx="12"/>
          </p:nvPr>
        </p:nvSpPr>
        <p:spPr/>
        <p:txBody>
          <a:bodyPr/>
          <a:lstStyle/>
          <a:p>
            <a:fld id="{BF1758FF-0BF1-4103-A89A-38EC40E85429}" type="slidenum">
              <a:rPr lang="en-SG" smtClean="0"/>
              <a:t>8</a:t>
            </a:fld>
            <a:endParaRPr lang="en-SG"/>
          </a:p>
        </p:txBody>
      </p:sp>
      <p:sp>
        <p:nvSpPr>
          <p:cNvPr id="5" name="Rectangle: Rounded Corners 4">
            <a:extLst>
              <a:ext uri="{FF2B5EF4-FFF2-40B4-BE49-F238E27FC236}">
                <a16:creationId xmlns:a16="http://schemas.microsoft.com/office/drawing/2014/main" id="{77E345F2-6C80-C8A9-6F43-EDE5D7405582}"/>
              </a:ext>
            </a:extLst>
          </p:cNvPr>
          <p:cNvSpPr/>
          <p:nvPr/>
        </p:nvSpPr>
        <p:spPr>
          <a:xfrm>
            <a:off x="660714" y="1109275"/>
            <a:ext cx="3382641" cy="28002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Data Preparation</a:t>
            </a:r>
          </a:p>
          <a:p>
            <a:pPr algn="ctr"/>
            <a:endParaRPr lang="en-US" sz="1200" b="1" dirty="0"/>
          </a:p>
          <a:p>
            <a:r>
              <a:rPr lang="en-US" sz="1200" dirty="0"/>
              <a:t> </a:t>
            </a:r>
            <a:r>
              <a:rPr lang="en-US" sz="1200" b="1" dirty="0"/>
              <a:t>Telemetry Dataset (120k trips)</a:t>
            </a:r>
            <a:br>
              <a:rPr lang="en-US" sz="1200" dirty="0"/>
            </a:br>
            <a:r>
              <a:rPr lang="en-US" sz="1200" dirty="0"/>
              <a:t>• 26 trip-level telemetry + environmental features</a:t>
            </a:r>
            <a:br>
              <a:rPr lang="en-US" sz="1200" dirty="0"/>
            </a:br>
            <a:r>
              <a:rPr lang="en-US" sz="1200" dirty="0"/>
              <a:t>• No missing values; trip-level granularity validated</a:t>
            </a:r>
          </a:p>
          <a:p>
            <a:r>
              <a:rPr lang="en-US" sz="1200" dirty="0"/>
              <a:t> </a:t>
            </a:r>
            <a:r>
              <a:rPr lang="en-US" sz="1200" b="1" dirty="0"/>
              <a:t>Feature Selection</a:t>
            </a:r>
            <a:br>
              <a:rPr lang="en-US" sz="1200" dirty="0"/>
            </a:br>
            <a:r>
              <a:rPr lang="en-US" sz="1200" dirty="0"/>
              <a:t>• 6 behavioral features chosen for clustering</a:t>
            </a:r>
            <a:br>
              <a:rPr lang="en-US" sz="1200" dirty="0"/>
            </a:br>
            <a:r>
              <a:rPr lang="en-US" sz="1200" i="1" dirty="0"/>
              <a:t>(acceleration, </a:t>
            </a:r>
            <a:r>
              <a:rPr lang="en-US" sz="1200" i="1" dirty="0" err="1"/>
              <a:t>acceleration_variation</a:t>
            </a:r>
            <a:r>
              <a:rPr lang="en-US" sz="1200" i="1" dirty="0"/>
              <a:t>, </a:t>
            </a:r>
            <a:r>
              <a:rPr lang="en-US" sz="1200" i="1" dirty="0" err="1"/>
              <a:t>brake_usage</a:t>
            </a:r>
            <a:r>
              <a:rPr lang="en-US" sz="1200" i="1" dirty="0"/>
              <a:t>, rpm, lane_deviation, </a:t>
            </a:r>
            <a:r>
              <a:rPr lang="en-US" sz="1200" i="1" dirty="0" err="1"/>
              <a:t>steering_angle</a:t>
            </a:r>
            <a:r>
              <a:rPr lang="en-US" sz="1200" i="1" dirty="0"/>
              <a:t>)</a:t>
            </a:r>
            <a:endParaRPr lang="en-US" sz="1200" dirty="0"/>
          </a:p>
          <a:p>
            <a:pPr algn="ctr"/>
            <a:endParaRPr lang="en-US" sz="1200" dirty="0"/>
          </a:p>
        </p:txBody>
      </p:sp>
      <p:sp>
        <p:nvSpPr>
          <p:cNvPr id="6" name="Rectangle: Rounded Corners 5">
            <a:extLst>
              <a:ext uri="{FF2B5EF4-FFF2-40B4-BE49-F238E27FC236}">
                <a16:creationId xmlns:a16="http://schemas.microsoft.com/office/drawing/2014/main" id="{B987430C-366E-9052-A1CC-D421CE55BCAB}"/>
              </a:ext>
            </a:extLst>
          </p:cNvPr>
          <p:cNvSpPr/>
          <p:nvPr/>
        </p:nvSpPr>
        <p:spPr>
          <a:xfrm>
            <a:off x="4487651" y="1128797"/>
            <a:ext cx="3433337" cy="27807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Unsupervised Learning (Pseudo-Labeling)</a:t>
            </a:r>
          </a:p>
          <a:p>
            <a:pPr algn="ctr"/>
            <a:endParaRPr lang="en-US" sz="1200" b="1" dirty="0"/>
          </a:p>
          <a:p>
            <a:r>
              <a:rPr lang="en-US" sz="1200" b="1" dirty="0"/>
              <a:t>K-Means Clustering</a:t>
            </a:r>
            <a:br>
              <a:rPr lang="en-US" sz="1200" dirty="0"/>
            </a:br>
            <a:r>
              <a:rPr lang="en-US" sz="1200" dirty="0"/>
              <a:t>• k = 4 clusters, </a:t>
            </a:r>
          </a:p>
          <a:p>
            <a:r>
              <a:rPr lang="en-US" sz="1200" dirty="0" err="1"/>
              <a:t>StandardScaler</a:t>
            </a:r>
            <a:r>
              <a:rPr lang="en-US" sz="1200" dirty="0"/>
              <a:t> normalization</a:t>
            </a:r>
            <a:br>
              <a:rPr lang="en-US" sz="1200" dirty="0"/>
            </a:br>
            <a:r>
              <a:rPr lang="en-US" sz="1200" dirty="0"/>
              <a:t>• Domain-guided centroid initialization</a:t>
            </a:r>
            <a:br>
              <a:rPr lang="en-US" sz="1200" dirty="0"/>
            </a:br>
            <a:r>
              <a:rPr lang="en-US" sz="1200" b="1" dirty="0"/>
              <a:t>Pseudo Label Generation</a:t>
            </a:r>
            <a:br>
              <a:rPr lang="en-US" sz="1200" dirty="0"/>
            </a:br>
            <a:r>
              <a:rPr lang="en-US" sz="1200" dirty="0"/>
              <a:t>• Identify “Aggressive” cluster (C2) </a:t>
            </a:r>
          </a:p>
          <a:p>
            <a:r>
              <a:rPr lang="en-US" sz="1200" dirty="0"/>
              <a:t>via composite risk score</a:t>
            </a:r>
            <a:br>
              <a:rPr lang="en-US" sz="1200" dirty="0"/>
            </a:br>
            <a:r>
              <a:rPr lang="en-US" sz="1200" dirty="0"/>
              <a:t>• Create binary target:</a:t>
            </a:r>
            <a:br>
              <a:rPr lang="en-US" sz="1200" dirty="0"/>
            </a:br>
            <a:r>
              <a:rPr lang="en-US" sz="1200" dirty="0"/>
              <a:t>0 = Non-aggressive</a:t>
            </a:r>
            <a:br>
              <a:rPr lang="en-US" sz="1200" dirty="0"/>
            </a:br>
            <a:r>
              <a:rPr lang="en-US" sz="1200" dirty="0"/>
              <a:t>1 = Aggressive</a:t>
            </a:r>
          </a:p>
          <a:p>
            <a:endParaRPr lang="en-US" sz="1200" b="1" dirty="0"/>
          </a:p>
        </p:txBody>
      </p:sp>
      <p:sp>
        <p:nvSpPr>
          <p:cNvPr id="15" name="Arrow: Right 14">
            <a:extLst>
              <a:ext uri="{FF2B5EF4-FFF2-40B4-BE49-F238E27FC236}">
                <a16:creationId xmlns:a16="http://schemas.microsoft.com/office/drawing/2014/main" id="{D17A0469-7A58-BE49-EB93-454F46E66B09}"/>
              </a:ext>
            </a:extLst>
          </p:cNvPr>
          <p:cNvSpPr/>
          <p:nvPr/>
        </p:nvSpPr>
        <p:spPr>
          <a:xfrm>
            <a:off x="4063183" y="2178623"/>
            <a:ext cx="414554" cy="3871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0A122EB0-8C24-C6E5-B011-DEFA629FFA97}"/>
              </a:ext>
            </a:extLst>
          </p:cNvPr>
          <p:cNvSpPr/>
          <p:nvPr/>
        </p:nvSpPr>
        <p:spPr>
          <a:xfrm>
            <a:off x="8325628" y="1188102"/>
            <a:ext cx="2919621" cy="26143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Supervised Learning</a:t>
            </a:r>
          </a:p>
          <a:p>
            <a:br>
              <a:rPr lang="en-US" sz="1200" b="1" dirty="0"/>
            </a:br>
            <a:r>
              <a:rPr lang="en-US" sz="1200" b="1" dirty="0"/>
              <a:t>Group-Aware Train–Validation Split</a:t>
            </a:r>
            <a:br>
              <a:rPr lang="en-US" sz="1200" dirty="0"/>
            </a:br>
            <a:r>
              <a:rPr lang="en-US" sz="1200" dirty="0"/>
              <a:t>• 80/20 split</a:t>
            </a:r>
            <a:br>
              <a:rPr lang="en-US" sz="1200" dirty="0"/>
            </a:br>
            <a:br>
              <a:rPr lang="en-US" sz="1200" dirty="0"/>
            </a:br>
            <a:r>
              <a:rPr lang="en-US" sz="1200" b="1" dirty="0"/>
              <a:t>Model Training (</a:t>
            </a:r>
            <a:r>
              <a:rPr lang="en-US" sz="1200" b="1" dirty="0" err="1"/>
              <a:t>XGBoost</a:t>
            </a:r>
            <a:r>
              <a:rPr lang="en-US" sz="1200" b="1" dirty="0"/>
              <a:t>)</a:t>
            </a:r>
            <a:br>
              <a:rPr lang="en-US" sz="1200" dirty="0"/>
            </a:br>
            <a:r>
              <a:rPr lang="en-US" sz="1200" dirty="0"/>
              <a:t>• 200 estimators, depth 6</a:t>
            </a:r>
            <a:br>
              <a:rPr lang="en-US" sz="1200" dirty="0"/>
            </a:br>
            <a:r>
              <a:rPr lang="en-US" sz="1200" dirty="0"/>
              <a:t>• Class weighting applied</a:t>
            </a:r>
            <a:br>
              <a:rPr lang="en-US" sz="1200" dirty="0"/>
            </a:br>
            <a:r>
              <a:rPr lang="en-US" sz="1200" dirty="0"/>
              <a:t>• 6 behavioral input features </a:t>
            </a:r>
          </a:p>
          <a:p>
            <a:r>
              <a:rPr lang="en-US" sz="1200" dirty="0"/>
              <a:t>• 1 binary target</a:t>
            </a:r>
            <a:endParaRPr lang="en-US" sz="1200" b="1" dirty="0"/>
          </a:p>
        </p:txBody>
      </p:sp>
      <p:sp>
        <p:nvSpPr>
          <p:cNvPr id="18" name="Rectangle: Rounded Corners 17">
            <a:extLst>
              <a:ext uri="{FF2B5EF4-FFF2-40B4-BE49-F238E27FC236}">
                <a16:creationId xmlns:a16="http://schemas.microsoft.com/office/drawing/2014/main" id="{A8000E8A-1809-F610-149B-182169CD429A}"/>
              </a:ext>
            </a:extLst>
          </p:cNvPr>
          <p:cNvSpPr/>
          <p:nvPr/>
        </p:nvSpPr>
        <p:spPr>
          <a:xfrm>
            <a:off x="8325627" y="4321174"/>
            <a:ext cx="2919621" cy="24003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Model Evaluation</a:t>
            </a:r>
          </a:p>
          <a:p>
            <a:br>
              <a:rPr lang="en-US" sz="1200" b="1" dirty="0"/>
            </a:br>
            <a:r>
              <a:rPr lang="en-US" sz="1200" b="1" dirty="0"/>
              <a:t>Model Validation</a:t>
            </a:r>
            <a:br>
              <a:rPr lang="en-US" sz="1200" dirty="0"/>
            </a:br>
            <a:r>
              <a:rPr lang="en-US" sz="1200" dirty="0"/>
              <a:t>• Confusion matrix</a:t>
            </a:r>
            <a:br>
              <a:rPr lang="en-US" sz="1200" dirty="0"/>
            </a:br>
            <a:r>
              <a:rPr lang="en-US" sz="1200" dirty="0"/>
              <a:t>• Accuracy, Precision, Recall, </a:t>
            </a:r>
          </a:p>
          <a:p>
            <a:r>
              <a:rPr lang="en-US" sz="1200" dirty="0"/>
              <a:t>F1-score</a:t>
            </a:r>
            <a:br>
              <a:rPr lang="en-US" sz="1200" dirty="0"/>
            </a:br>
            <a:r>
              <a:rPr lang="en-US" sz="1200" dirty="0"/>
              <a:t>• Feature importance interpretation</a:t>
            </a:r>
            <a:endParaRPr lang="en-US" sz="1200" b="1" dirty="0"/>
          </a:p>
        </p:txBody>
      </p:sp>
      <p:sp>
        <p:nvSpPr>
          <p:cNvPr id="19" name="Arrow: Right 18">
            <a:extLst>
              <a:ext uri="{FF2B5EF4-FFF2-40B4-BE49-F238E27FC236}">
                <a16:creationId xmlns:a16="http://schemas.microsoft.com/office/drawing/2014/main" id="{B337F3F4-AD3A-1F48-6169-69CD5F83CDC6}"/>
              </a:ext>
            </a:extLst>
          </p:cNvPr>
          <p:cNvSpPr/>
          <p:nvPr/>
        </p:nvSpPr>
        <p:spPr>
          <a:xfrm>
            <a:off x="7920988" y="2178623"/>
            <a:ext cx="414554" cy="3871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912AD0A0-DD99-FA9D-BB9B-7EE8C681D431}"/>
              </a:ext>
            </a:extLst>
          </p:cNvPr>
          <p:cNvSpPr/>
          <p:nvPr/>
        </p:nvSpPr>
        <p:spPr>
          <a:xfrm rot="5400000">
            <a:off x="9652928" y="3874655"/>
            <a:ext cx="459369" cy="3871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7939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3099DBA9-1C56-0B74-C6D7-77F2B883156A}"/>
              </a:ext>
            </a:extLst>
          </p:cNvPr>
          <p:cNvGrpSpPr/>
          <p:nvPr/>
        </p:nvGrpSpPr>
        <p:grpSpPr>
          <a:xfrm>
            <a:off x="6982699" y="599712"/>
            <a:ext cx="4781550" cy="2762250"/>
            <a:chOff x="6982699" y="599712"/>
            <a:chExt cx="4781550" cy="2762250"/>
          </a:xfrm>
        </p:grpSpPr>
        <p:pic>
          <p:nvPicPr>
            <p:cNvPr id="13" name="Picture 12">
              <a:extLst>
                <a:ext uri="{FF2B5EF4-FFF2-40B4-BE49-F238E27FC236}">
                  <a16:creationId xmlns:a16="http://schemas.microsoft.com/office/drawing/2014/main" id="{2C2644D8-A081-8024-55F3-9537671C151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6982699" y="599712"/>
              <a:ext cx="4781550" cy="2762250"/>
            </a:xfrm>
            <a:prstGeom prst="rect">
              <a:avLst/>
            </a:prstGeom>
          </p:spPr>
        </p:pic>
        <p:sp>
          <p:nvSpPr>
            <p:cNvPr id="20" name="Rectangle 19">
              <a:extLst>
                <a:ext uri="{FF2B5EF4-FFF2-40B4-BE49-F238E27FC236}">
                  <a16:creationId xmlns:a16="http://schemas.microsoft.com/office/drawing/2014/main" id="{0CA97695-F08A-B2A0-F28D-D4207201C9BB}"/>
                </a:ext>
              </a:extLst>
            </p:cNvPr>
            <p:cNvSpPr/>
            <p:nvPr/>
          </p:nvSpPr>
          <p:spPr>
            <a:xfrm>
              <a:off x="9785060" y="822122"/>
              <a:ext cx="516622" cy="212241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sp>
        <p:nvSpPr>
          <p:cNvPr id="2" name="Title 1">
            <a:extLst>
              <a:ext uri="{FF2B5EF4-FFF2-40B4-BE49-F238E27FC236}">
                <a16:creationId xmlns:a16="http://schemas.microsoft.com/office/drawing/2014/main" id="{161FD435-266C-20FF-FB78-83EA7ED84C99}"/>
              </a:ext>
            </a:extLst>
          </p:cNvPr>
          <p:cNvSpPr>
            <a:spLocks noGrp="1"/>
          </p:cNvSpPr>
          <p:nvPr>
            <p:ph type="title"/>
          </p:nvPr>
        </p:nvSpPr>
        <p:spPr/>
        <p:txBody>
          <a:bodyPr/>
          <a:lstStyle/>
          <a:p>
            <a:r>
              <a:rPr lang="en-US" dirty="0"/>
              <a:t>Pseudo-label generation</a:t>
            </a:r>
          </a:p>
        </p:txBody>
      </p:sp>
      <p:sp>
        <p:nvSpPr>
          <p:cNvPr id="3" name="Footer Placeholder 2">
            <a:extLst>
              <a:ext uri="{FF2B5EF4-FFF2-40B4-BE49-F238E27FC236}">
                <a16:creationId xmlns:a16="http://schemas.microsoft.com/office/drawing/2014/main" id="{4DCE2417-F61D-D8AD-DF70-A115E2775FA7}"/>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6A86A8DA-C782-799D-F265-851786FF2048}"/>
              </a:ext>
            </a:extLst>
          </p:cNvPr>
          <p:cNvSpPr>
            <a:spLocks noGrp="1"/>
          </p:cNvSpPr>
          <p:nvPr>
            <p:ph type="sldNum" sz="quarter" idx="12"/>
          </p:nvPr>
        </p:nvSpPr>
        <p:spPr/>
        <p:txBody>
          <a:bodyPr/>
          <a:lstStyle/>
          <a:p>
            <a:fld id="{BF1758FF-0BF1-4103-A89A-38EC40E85429}" type="slidenum">
              <a:rPr lang="en-SG" smtClean="0"/>
              <a:t>9</a:t>
            </a:fld>
            <a:endParaRPr lang="en-SG"/>
          </a:p>
        </p:txBody>
      </p:sp>
      <p:graphicFrame>
        <p:nvGraphicFramePr>
          <p:cNvPr id="6" name="Table 5">
            <a:extLst>
              <a:ext uri="{FF2B5EF4-FFF2-40B4-BE49-F238E27FC236}">
                <a16:creationId xmlns:a16="http://schemas.microsoft.com/office/drawing/2014/main" id="{CFC98775-BBE9-91BD-0DC6-38552C6526DC}"/>
              </a:ext>
            </a:extLst>
          </p:cNvPr>
          <p:cNvGraphicFramePr>
            <a:graphicFrameLocks noGrp="1"/>
          </p:cNvGraphicFramePr>
          <p:nvPr/>
        </p:nvGraphicFramePr>
        <p:xfrm>
          <a:off x="5682048" y="3314423"/>
          <a:ext cx="6402924" cy="1920240"/>
        </p:xfrm>
        <a:graphic>
          <a:graphicData uri="http://schemas.openxmlformats.org/drawingml/2006/table">
            <a:tbl>
              <a:tblPr>
                <a:tableStyleId>{5C22544A-7EE6-4342-B048-85BDC9FD1C3A}</a:tableStyleId>
              </a:tblPr>
              <a:tblGrid>
                <a:gridCol w="1929714">
                  <a:extLst>
                    <a:ext uri="{9D8B030D-6E8A-4147-A177-3AD203B41FA5}">
                      <a16:colId xmlns:a16="http://schemas.microsoft.com/office/drawing/2014/main" val="1413764278"/>
                    </a:ext>
                  </a:extLst>
                </a:gridCol>
                <a:gridCol w="873210">
                  <a:extLst>
                    <a:ext uri="{9D8B030D-6E8A-4147-A177-3AD203B41FA5}">
                      <a16:colId xmlns:a16="http://schemas.microsoft.com/office/drawing/2014/main" val="1049417372"/>
                    </a:ext>
                  </a:extLst>
                </a:gridCol>
                <a:gridCol w="3600000">
                  <a:extLst>
                    <a:ext uri="{9D8B030D-6E8A-4147-A177-3AD203B41FA5}">
                      <a16:colId xmlns:a16="http://schemas.microsoft.com/office/drawing/2014/main" val="4010237657"/>
                    </a:ext>
                  </a:extLst>
                </a:gridCol>
              </a:tblGrid>
              <a:tr h="247765">
                <a:tc>
                  <a:txBody>
                    <a:bodyPr/>
                    <a:lstStyle/>
                    <a:p>
                      <a:r>
                        <a:rPr lang="en-US" sz="1200" b="1" dirty="0"/>
                        <a:t>Feature</a:t>
                      </a:r>
                    </a:p>
                  </a:txBody>
                  <a:tcPr anchor="ctr"/>
                </a:tc>
                <a:tc>
                  <a:txBody>
                    <a:bodyPr/>
                    <a:lstStyle/>
                    <a:p>
                      <a:r>
                        <a:rPr lang="en-US" sz="1200" b="1" dirty="0"/>
                        <a:t>Weight</a:t>
                      </a:r>
                    </a:p>
                  </a:txBody>
                  <a:tcPr anchor="ctr"/>
                </a:tc>
                <a:tc>
                  <a:txBody>
                    <a:bodyPr/>
                    <a:lstStyle/>
                    <a:p>
                      <a:r>
                        <a:rPr lang="en-US" sz="1200" b="1" dirty="0"/>
                        <a:t>Meaning</a:t>
                      </a:r>
                    </a:p>
                  </a:txBody>
                  <a:tcPr anchor="ctr"/>
                </a:tc>
                <a:extLst>
                  <a:ext uri="{0D108BD9-81ED-4DB2-BD59-A6C34878D82A}">
                    <a16:rowId xmlns:a16="http://schemas.microsoft.com/office/drawing/2014/main" val="4001134448"/>
                  </a:ext>
                </a:extLst>
              </a:tr>
              <a:tr h="247765">
                <a:tc>
                  <a:txBody>
                    <a:bodyPr/>
                    <a:lstStyle/>
                    <a:p>
                      <a:r>
                        <a:rPr lang="en-US" sz="1200" b="0" dirty="0"/>
                        <a:t>rpm</a:t>
                      </a:r>
                    </a:p>
                  </a:txBody>
                  <a:tcPr anchor="ctr"/>
                </a:tc>
                <a:tc>
                  <a:txBody>
                    <a:bodyPr/>
                    <a:lstStyle/>
                    <a:p>
                      <a:r>
                        <a:rPr lang="en-US" sz="1200" b="0" dirty="0"/>
                        <a:t>2.0</a:t>
                      </a:r>
                    </a:p>
                  </a:txBody>
                  <a:tcPr anchor="ctr"/>
                </a:tc>
                <a:tc>
                  <a:txBody>
                    <a:bodyPr/>
                    <a:lstStyle/>
                    <a:p>
                      <a:r>
                        <a:rPr lang="en-US" sz="1200" dirty="0"/>
                        <a:t>Strongest indicator of aggressive throttle usage</a:t>
                      </a:r>
                    </a:p>
                  </a:txBody>
                  <a:tcPr anchor="ctr"/>
                </a:tc>
                <a:extLst>
                  <a:ext uri="{0D108BD9-81ED-4DB2-BD59-A6C34878D82A}">
                    <a16:rowId xmlns:a16="http://schemas.microsoft.com/office/drawing/2014/main" val="3111975716"/>
                  </a:ext>
                </a:extLst>
              </a:tr>
              <a:tr h="247765">
                <a:tc>
                  <a:txBody>
                    <a:bodyPr/>
                    <a:lstStyle/>
                    <a:p>
                      <a:r>
                        <a:rPr lang="en-US" sz="1200" b="0"/>
                        <a:t>acceleration_variation</a:t>
                      </a:r>
                    </a:p>
                  </a:txBody>
                  <a:tcPr anchor="ctr"/>
                </a:tc>
                <a:tc>
                  <a:txBody>
                    <a:bodyPr/>
                    <a:lstStyle/>
                    <a:p>
                      <a:r>
                        <a:rPr lang="en-US" sz="1200" b="0" dirty="0"/>
                        <a:t>1.5</a:t>
                      </a:r>
                    </a:p>
                  </a:txBody>
                  <a:tcPr anchor="ctr"/>
                </a:tc>
                <a:tc>
                  <a:txBody>
                    <a:bodyPr/>
                    <a:lstStyle/>
                    <a:p>
                      <a:r>
                        <a:rPr lang="en-US" sz="1200" dirty="0"/>
                        <a:t>Captures jerky / repeated bursts</a:t>
                      </a:r>
                    </a:p>
                  </a:txBody>
                  <a:tcPr anchor="ctr"/>
                </a:tc>
                <a:extLst>
                  <a:ext uri="{0D108BD9-81ED-4DB2-BD59-A6C34878D82A}">
                    <a16:rowId xmlns:a16="http://schemas.microsoft.com/office/drawing/2014/main" val="3587785732"/>
                  </a:ext>
                </a:extLst>
              </a:tr>
              <a:tr h="247765">
                <a:tc>
                  <a:txBody>
                    <a:bodyPr/>
                    <a:lstStyle/>
                    <a:p>
                      <a:r>
                        <a:rPr lang="en-US" sz="1200" b="0"/>
                        <a:t>acceleration</a:t>
                      </a:r>
                    </a:p>
                  </a:txBody>
                  <a:tcPr anchor="ctr"/>
                </a:tc>
                <a:tc>
                  <a:txBody>
                    <a:bodyPr/>
                    <a:lstStyle/>
                    <a:p>
                      <a:r>
                        <a:rPr lang="en-US" sz="1200" b="0" dirty="0"/>
                        <a:t>1.5</a:t>
                      </a:r>
                    </a:p>
                  </a:txBody>
                  <a:tcPr anchor="ctr"/>
                </a:tc>
                <a:tc>
                  <a:txBody>
                    <a:bodyPr/>
                    <a:lstStyle/>
                    <a:p>
                      <a:r>
                        <a:rPr lang="en-US" sz="1200" dirty="0"/>
                        <a:t>Measures high-intensity acceleration events</a:t>
                      </a:r>
                    </a:p>
                  </a:txBody>
                  <a:tcPr anchor="ctr"/>
                </a:tc>
                <a:extLst>
                  <a:ext uri="{0D108BD9-81ED-4DB2-BD59-A6C34878D82A}">
                    <a16:rowId xmlns:a16="http://schemas.microsoft.com/office/drawing/2014/main" val="2565303443"/>
                  </a:ext>
                </a:extLst>
              </a:tr>
              <a:tr h="247765">
                <a:tc>
                  <a:txBody>
                    <a:bodyPr/>
                    <a:lstStyle/>
                    <a:p>
                      <a:r>
                        <a:rPr lang="en-US" sz="1200" b="0"/>
                        <a:t>steering_angle</a:t>
                      </a:r>
                    </a:p>
                  </a:txBody>
                  <a:tcPr anchor="ctr"/>
                </a:tc>
                <a:tc>
                  <a:txBody>
                    <a:bodyPr/>
                    <a:lstStyle/>
                    <a:p>
                      <a:r>
                        <a:rPr lang="en-US" sz="1200" b="0" dirty="0"/>
                        <a:t>1.2</a:t>
                      </a:r>
                    </a:p>
                  </a:txBody>
                  <a:tcPr anchor="ctr"/>
                </a:tc>
                <a:tc>
                  <a:txBody>
                    <a:bodyPr/>
                    <a:lstStyle/>
                    <a:p>
                      <a:r>
                        <a:rPr lang="en-US" sz="1200"/>
                        <a:t>Reflects sharp turns / lane instability</a:t>
                      </a:r>
                    </a:p>
                  </a:txBody>
                  <a:tcPr anchor="ctr"/>
                </a:tc>
                <a:extLst>
                  <a:ext uri="{0D108BD9-81ED-4DB2-BD59-A6C34878D82A}">
                    <a16:rowId xmlns:a16="http://schemas.microsoft.com/office/drawing/2014/main" val="2357446392"/>
                  </a:ext>
                </a:extLst>
              </a:tr>
              <a:tr h="247765">
                <a:tc>
                  <a:txBody>
                    <a:bodyPr/>
                    <a:lstStyle/>
                    <a:p>
                      <a:r>
                        <a:rPr lang="en-US" sz="1200" b="0"/>
                        <a:t>brake_usage</a:t>
                      </a:r>
                    </a:p>
                  </a:txBody>
                  <a:tcPr anchor="ctr"/>
                </a:tc>
                <a:tc>
                  <a:txBody>
                    <a:bodyPr/>
                    <a:lstStyle/>
                    <a:p>
                      <a:r>
                        <a:rPr lang="en-US" sz="1200" b="0" dirty="0"/>
                        <a:t>1.2</a:t>
                      </a:r>
                    </a:p>
                  </a:txBody>
                  <a:tcPr anchor="ctr"/>
                </a:tc>
                <a:tc>
                  <a:txBody>
                    <a:bodyPr/>
                    <a:lstStyle/>
                    <a:p>
                      <a:r>
                        <a:rPr lang="en-US" sz="1200" dirty="0"/>
                        <a:t>Indicates hard braking or tailgating</a:t>
                      </a:r>
                    </a:p>
                  </a:txBody>
                  <a:tcPr anchor="ctr"/>
                </a:tc>
                <a:extLst>
                  <a:ext uri="{0D108BD9-81ED-4DB2-BD59-A6C34878D82A}">
                    <a16:rowId xmlns:a16="http://schemas.microsoft.com/office/drawing/2014/main" val="3853936160"/>
                  </a:ext>
                </a:extLst>
              </a:tr>
              <a:tr h="247765">
                <a:tc>
                  <a:txBody>
                    <a:bodyPr/>
                    <a:lstStyle/>
                    <a:p>
                      <a:r>
                        <a:rPr lang="en-US" sz="1200" b="0" dirty="0"/>
                        <a:t>lane_deviation</a:t>
                      </a:r>
                    </a:p>
                  </a:txBody>
                  <a:tcPr anchor="ctr"/>
                </a:tc>
                <a:tc>
                  <a:txBody>
                    <a:bodyPr/>
                    <a:lstStyle/>
                    <a:p>
                      <a:r>
                        <a:rPr lang="en-US" sz="1200" b="0" dirty="0"/>
                        <a:t>1.0</a:t>
                      </a:r>
                    </a:p>
                  </a:txBody>
                  <a:tcPr anchor="ctr"/>
                </a:tc>
                <a:tc>
                  <a:txBody>
                    <a:bodyPr/>
                    <a:lstStyle/>
                    <a:p>
                      <a:r>
                        <a:rPr lang="en-US" sz="1200" dirty="0"/>
                        <a:t>Tracks lateral instability under aggressive behavior</a:t>
                      </a:r>
                    </a:p>
                  </a:txBody>
                  <a:tcPr anchor="ctr"/>
                </a:tc>
                <a:extLst>
                  <a:ext uri="{0D108BD9-81ED-4DB2-BD59-A6C34878D82A}">
                    <a16:rowId xmlns:a16="http://schemas.microsoft.com/office/drawing/2014/main" val="1518772949"/>
                  </a:ext>
                </a:extLst>
              </a:tr>
            </a:tbl>
          </a:graphicData>
        </a:graphic>
      </p:graphicFrame>
      <p:sp>
        <p:nvSpPr>
          <p:cNvPr id="7" name="TextBox 6">
            <a:extLst>
              <a:ext uri="{FF2B5EF4-FFF2-40B4-BE49-F238E27FC236}">
                <a16:creationId xmlns:a16="http://schemas.microsoft.com/office/drawing/2014/main" id="{55E78ED2-3193-DD92-2F0E-B04D19F80D17}"/>
              </a:ext>
            </a:extLst>
          </p:cNvPr>
          <p:cNvSpPr txBox="1"/>
          <p:nvPr/>
        </p:nvSpPr>
        <p:spPr>
          <a:xfrm>
            <a:off x="5588728" y="5979381"/>
            <a:ext cx="4797980" cy="276999"/>
          </a:xfrm>
          <a:prstGeom prst="rect">
            <a:avLst/>
          </a:prstGeom>
          <a:noFill/>
        </p:spPr>
        <p:txBody>
          <a:bodyPr wrap="none" rtlCol="0">
            <a:spAutoFit/>
          </a:bodyPr>
          <a:lstStyle/>
          <a:p>
            <a:r>
              <a:rPr lang="en-US" sz="1200" dirty="0"/>
              <a:t>Cluster with </a:t>
            </a:r>
            <a:r>
              <a:rPr lang="en-US" sz="1200" b="1" dirty="0"/>
              <a:t>highest composite risk score = Aggressive Cluster (C2)</a:t>
            </a:r>
            <a:endParaRPr lang="en-US" sz="1200" dirty="0"/>
          </a:p>
        </p:txBody>
      </p:sp>
      <p:sp>
        <p:nvSpPr>
          <p:cNvPr id="9" name="TextBox 8">
            <a:extLst>
              <a:ext uri="{FF2B5EF4-FFF2-40B4-BE49-F238E27FC236}">
                <a16:creationId xmlns:a16="http://schemas.microsoft.com/office/drawing/2014/main" id="{F7AFB14E-AC3F-94E1-3405-B3247B912D37}"/>
              </a:ext>
            </a:extLst>
          </p:cNvPr>
          <p:cNvSpPr txBox="1"/>
          <p:nvPr/>
        </p:nvSpPr>
        <p:spPr>
          <a:xfrm>
            <a:off x="588996" y="1619296"/>
            <a:ext cx="4989683" cy="461665"/>
          </a:xfrm>
          <a:prstGeom prst="rect">
            <a:avLst/>
          </a:prstGeom>
          <a:noFill/>
        </p:spPr>
        <p:txBody>
          <a:bodyPr wrap="square" rtlCol="0">
            <a:spAutoFit/>
          </a:bodyPr>
          <a:lstStyle/>
          <a:p>
            <a:r>
              <a:rPr lang="en-US" sz="1200" b="1" dirty="0"/>
              <a:t>Goal</a:t>
            </a:r>
            <a:r>
              <a:rPr lang="en-US" sz="1200" dirty="0"/>
              <a:t>: Automatically identify the </a:t>
            </a:r>
            <a:r>
              <a:rPr lang="en-US" sz="1200" b="1" dirty="0"/>
              <a:t>aggressive driving</a:t>
            </a:r>
            <a:r>
              <a:rPr lang="en-US" sz="1200" dirty="0"/>
              <a:t> cluster from K-Means outputs by scoring each cluster centroid on aggression-related features.</a:t>
            </a:r>
          </a:p>
        </p:txBody>
      </p:sp>
      <p:sp>
        <p:nvSpPr>
          <p:cNvPr id="15" name="TextBox 14">
            <a:extLst>
              <a:ext uri="{FF2B5EF4-FFF2-40B4-BE49-F238E27FC236}">
                <a16:creationId xmlns:a16="http://schemas.microsoft.com/office/drawing/2014/main" id="{08D8074C-5FB4-DD5C-E428-87CECB0FA028}"/>
              </a:ext>
            </a:extLst>
          </p:cNvPr>
          <p:cNvSpPr txBox="1"/>
          <p:nvPr/>
        </p:nvSpPr>
        <p:spPr>
          <a:xfrm>
            <a:off x="588997" y="6314506"/>
            <a:ext cx="1975221" cy="261610"/>
          </a:xfrm>
          <a:prstGeom prst="rect">
            <a:avLst/>
          </a:prstGeom>
          <a:noFill/>
        </p:spPr>
        <p:txBody>
          <a:bodyPr wrap="none" rtlCol="0">
            <a:spAutoFit/>
          </a:bodyPr>
          <a:lstStyle/>
          <a:p>
            <a:r>
              <a:rPr lang="en-US" sz="1100" dirty="0"/>
              <a:t>¹Zhang et al., IEEE T-ITS, 2018</a:t>
            </a:r>
          </a:p>
        </p:txBody>
      </p:sp>
      <p:sp>
        <p:nvSpPr>
          <p:cNvPr id="17" name="Rectangle 1">
            <a:extLst>
              <a:ext uri="{FF2B5EF4-FFF2-40B4-BE49-F238E27FC236}">
                <a16:creationId xmlns:a16="http://schemas.microsoft.com/office/drawing/2014/main" id="{2C2F6F4F-6C61-4F4E-B1A3-C9F3BF42A0C3}"/>
              </a:ext>
            </a:extLst>
          </p:cNvPr>
          <p:cNvSpPr>
            <a:spLocks noChangeArrowheads="1"/>
          </p:cNvSpPr>
          <p:nvPr/>
        </p:nvSpPr>
        <p:spPr bwMode="auto">
          <a:xfrm>
            <a:off x="588996" y="4923108"/>
            <a:ext cx="48716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1200" b="1" dirty="0"/>
              <a:t>Observation:</a:t>
            </a:r>
            <a:r>
              <a:rPr lang="en-US" sz="1200" dirty="0"/>
              <a:t> Aggressive cluster (C2) shows high RPM even under moderate acceleration.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9" name="Rectangle 3">
            <a:extLst>
              <a:ext uri="{FF2B5EF4-FFF2-40B4-BE49-F238E27FC236}">
                <a16:creationId xmlns:a16="http://schemas.microsoft.com/office/drawing/2014/main" id="{616C757A-BBE6-B2EA-8D86-3A0585540BA0}"/>
              </a:ext>
            </a:extLst>
          </p:cNvPr>
          <p:cNvSpPr>
            <a:spLocks noChangeArrowheads="1"/>
          </p:cNvSpPr>
          <p:nvPr/>
        </p:nvSpPr>
        <p:spPr bwMode="auto">
          <a:xfrm>
            <a:off x="588996" y="5437404"/>
            <a:ext cx="45282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rPr>
              <a:t>RPM strongly signals aggressive driving because high or rapidly fluctuating RPM reflects forceful throttle input and elevated engine load¹.</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p:txBody>
      </p:sp>
      <p:pic>
        <p:nvPicPr>
          <p:cNvPr id="26" name="Picture 25">
            <a:extLst>
              <a:ext uri="{FF2B5EF4-FFF2-40B4-BE49-F238E27FC236}">
                <a16:creationId xmlns:a16="http://schemas.microsoft.com/office/drawing/2014/main" id="{AE73517F-FE6C-4AD6-C09C-3DF2FD0381F2}"/>
              </a:ext>
            </a:extLst>
          </p:cNvPr>
          <p:cNvPicPr>
            <a:picLocks noChangeAspect="1"/>
          </p:cNvPicPr>
          <p:nvPr/>
        </p:nvPicPr>
        <p:blipFill>
          <a:blip r:embed="rId4"/>
          <a:stretch>
            <a:fillRect/>
          </a:stretch>
        </p:blipFill>
        <p:spPr>
          <a:xfrm>
            <a:off x="924973" y="2244441"/>
            <a:ext cx="3714750" cy="2762250"/>
          </a:xfrm>
          <a:prstGeom prst="rect">
            <a:avLst/>
          </a:prstGeom>
        </p:spPr>
      </p:pic>
      <p:sp>
        <p:nvSpPr>
          <p:cNvPr id="28" name="TextBox 27">
            <a:extLst>
              <a:ext uri="{FF2B5EF4-FFF2-40B4-BE49-F238E27FC236}">
                <a16:creationId xmlns:a16="http://schemas.microsoft.com/office/drawing/2014/main" id="{AC943994-AE2B-34CE-4FD4-DFCC16170E2C}"/>
              </a:ext>
            </a:extLst>
          </p:cNvPr>
          <p:cNvSpPr txBox="1"/>
          <p:nvPr/>
        </p:nvSpPr>
        <p:spPr>
          <a:xfrm>
            <a:off x="5682048" y="5442914"/>
            <a:ext cx="6205152" cy="461665"/>
          </a:xfrm>
          <a:prstGeom prst="rect">
            <a:avLst/>
          </a:prstGeom>
          <a:noFill/>
          <a:ln w="9525">
            <a:noFill/>
            <a:prstDash val="lgDash"/>
          </a:ln>
          <a:effectLst/>
          <a:scene3d>
            <a:camera prst="orthographicFront">
              <a:rot lat="0" lon="0" rev="0"/>
            </a:camera>
            <a:lightRig rig="chilly" dir="t">
              <a:rot lat="0" lon="0" rev="18480000"/>
            </a:lightRig>
          </a:scene3d>
          <a:sp3d prstMaterial="clear">
            <a:bevelT h="63500"/>
          </a:sp3d>
        </p:spPr>
        <p:txBody>
          <a:bodyPr wrap="square" rtlCol="0">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Composite Risk Score = 2·rpm + 1.5·acc_variation + 1.5·acceleration + 1.2·|</a:t>
            </a:r>
            <a:r>
              <a:rPr lang="en-US" sz="1200" dirty="0" err="1">
                <a:latin typeface="Calibri" panose="020F0502020204030204" pitchFamily="34" charset="0"/>
                <a:ea typeface="Calibri" panose="020F0502020204030204" pitchFamily="34" charset="0"/>
                <a:cs typeface="Calibri" panose="020F0502020204030204" pitchFamily="34" charset="0"/>
              </a:rPr>
              <a:t>steering_angle</a:t>
            </a:r>
            <a:r>
              <a:rPr lang="en-US" sz="1200" dirty="0">
                <a:latin typeface="Calibri" panose="020F0502020204030204" pitchFamily="34" charset="0"/>
                <a:ea typeface="Calibri" panose="020F0502020204030204" pitchFamily="34" charset="0"/>
                <a:cs typeface="Calibri" panose="020F0502020204030204" pitchFamily="34" charset="0"/>
              </a:rPr>
              <a:t>| + 1.2·brake_usage + lane_deviation</a:t>
            </a:r>
          </a:p>
        </p:txBody>
      </p:sp>
    </p:spTree>
    <p:extLst>
      <p:ext uri="{BB962C8B-B14F-4D97-AF65-F5344CB8AC3E}">
        <p14:creationId xmlns:p14="http://schemas.microsoft.com/office/powerpoint/2010/main" val="2086158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816A7-C33A-AE78-97B4-0955273D4F6F}"/>
              </a:ext>
            </a:extLst>
          </p:cNvPr>
          <p:cNvSpPr>
            <a:spLocks noGrp="1"/>
          </p:cNvSpPr>
          <p:nvPr>
            <p:ph type="title"/>
          </p:nvPr>
        </p:nvSpPr>
        <p:spPr/>
        <p:txBody>
          <a:bodyPr/>
          <a:lstStyle/>
          <a:p>
            <a:r>
              <a:rPr lang="en-US" dirty="0"/>
              <a:t>Supervised Learning</a:t>
            </a:r>
          </a:p>
        </p:txBody>
      </p:sp>
      <p:sp>
        <p:nvSpPr>
          <p:cNvPr id="3" name="Footer Placeholder 2">
            <a:extLst>
              <a:ext uri="{FF2B5EF4-FFF2-40B4-BE49-F238E27FC236}">
                <a16:creationId xmlns:a16="http://schemas.microsoft.com/office/drawing/2014/main" id="{B88810EF-E1B8-E30E-9B5E-51C53BADA04C}"/>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538CCF4A-5315-1EFF-AB23-3B883AE6DCF7}"/>
              </a:ext>
            </a:extLst>
          </p:cNvPr>
          <p:cNvSpPr>
            <a:spLocks noGrp="1"/>
          </p:cNvSpPr>
          <p:nvPr>
            <p:ph type="sldNum" sz="quarter" idx="12"/>
          </p:nvPr>
        </p:nvSpPr>
        <p:spPr/>
        <p:txBody>
          <a:bodyPr/>
          <a:lstStyle/>
          <a:p>
            <a:fld id="{BF1758FF-0BF1-4103-A89A-38EC40E85429}" type="slidenum">
              <a:rPr lang="en-SG" smtClean="0"/>
              <a:t>10</a:t>
            </a:fld>
            <a:endParaRPr lang="en-SG"/>
          </a:p>
        </p:txBody>
      </p:sp>
      <p:sp>
        <p:nvSpPr>
          <p:cNvPr id="10" name="TextBox 9">
            <a:extLst>
              <a:ext uri="{FF2B5EF4-FFF2-40B4-BE49-F238E27FC236}">
                <a16:creationId xmlns:a16="http://schemas.microsoft.com/office/drawing/2014/main" id="{964AEF4E-0F04-2464-E2C1-F536C60C5530}"/>
              </a:ext>
            </a:extLst>
          </p:cNvPr>
          <p:cNvSpPr txBox="1"/>
          <p:nvPr/>
        </p:nvSpPr>
        <p:spPr>
          <a:xfrm>
            <a:off x="519418" y="2044005"/>
            <a:ext cx="3519182" cy="1200329"/>
          </a:xfrm>
          <a:prstGeom prst="rect">
            <a:avLst/>
          </a:prstGeom>
          <a:noFill/>
        </p:spPr>
        <p:txBody>
          <a:bodyPr wrap="square">
            <a:spAutoFit/>
          </a:bodyPr>
          <a:lstStyle/>
          <a:p>
            <a:pPr>
              <a:buNone/>
            </a:pPr>
            <a:r>
              <a:rPr lang="en-US" sz="1600" b="1" dirty="0">
                <a:latin typeface="Calibri" panose="020F0502020204030204" pitchFamily="34" charset="0"/>
                <a:ea typeface="Calibri" panose="020F0502020204030204" pitchFamily="34" charset="0"/>
                <a:cs typeface="Calibri" panose="020F0502020204030204" pitchFamily="34" charset="0"/>
              </a:rPr>
              <a:t>Group-Aware Train–Validation Split</a:t>
            </a:r>
          </a:p>
          <a:p>
            <a:pPr>
              <a:buNone/>
            </a:pPr>
            <a:endParaRPr lang="en-US" sz="1400" b="1"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80/20 split</a:t>
            </a:r>
          </a:p>
          <a:p>
            <a:r>
              <a:rPr lang="en-US" sz="1400" dirty="0">
                <a:latin typeface="Calibri" panose="020F0502020204030204" pitchFamily="34" charset="0"/>
                <a:ea typeface="Calibri" panose="020F0502020204030204" pitchFamily="34" charset="0"/>
                <a:cs typeface="Calibri" panose="020F0502020204030204" pitchFamily="34" charset="0"/>
              </a:rPr>
              <a:t>Drivers partitioned using </a:t>
            </a:r>
            <a:r>
              <a:rPr lang="en-US" sz="1400" dirty="0" err="1">
                <a:latin typeface="Calibri" panose="020F0502020204030204" pitchFamily="34" charset="0"/>
                <a:ea typeface="Calibri" panose="020F0502020204030204" pitchFamily="34" charset="0"/>
                <a:cs typeface="Calibri" panose="020F0502020204030204" pitchFamily="34" charset="0"/>
              </a:rPr>
              <a:t>GroupShuffleSplit</a:t>
            </a:r>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Prevents driver-level leakage</a:t>
            </a:r>
          </a:p>
        </p:txBody>
      </p:sp>
      <p:sp>
        <p:nvSpPr>
          <p:cNvPr id="12" name="TextBox 11">
            <a:extLst>
              <a:ext uri="{FF2B5EF4-FFF2-40B4-BE49-F238E27FC236}">
                <a16:creationId xmlns:a16="http://schemas.microsoft.com/office/drawing/2014/main" id="{41BB2D7B-0DEB-3FEA-38E4-085C80602296}"/>
              </a:ext>
            </a:extLst>
          </p:cNvPr>
          <p:cNvSpPr txBox="1"/>
          <p:nvPr/>
        </p:nvSpPr>
        <p:spPr>
          <a:xfrm>
            <a:off x="451939" y="3499272"/>
            <a:ext cx="6149130" cy="1631216"/>
          </a:xfrm>
          <a:prstGeom prst="rect">
            <a:avLst/>
          </a:prstGeom>
          <a:noFill/>
        </p:spPr>
        <p:txBody>
          <a:bodyPr wrap="square">
            <a:spAutoFit/>
          </a:bodyPr>
          <a:lstStyle/>
          <a:p>
            <a:pPr>
              <a:buNone/>
            </a:pPr>
            <a:r>
              <a:rPr lang="en-US" sz="1600" b="1" dirty="0" err="1">
                <a:latin typeface="Calibri" panose="020F0502020204030204" pitchFamily="34" charset="0"/>
                <a:ea typeface="Calibri" panose="020F0502020204030204" pitchFamily="34" charset="0"/>
                <a:cs typeface="Calibri" panose="020F0502020204030204" pitchFamily="34" charset="0"/>
              </a:rPr>
              <a:t>XGBoost</a:t>
            </a:r>
            <a:r>
              <a:rPr lang="en-US" sz="1600" b="1" dirty="0">
                <a:latin typeface="Calibri" panose="020F0502020204030204" pitchFamily="34" charset="0"/>
                <a:ea typeface="Calibri" panose="020F0502020204030204" pitchFamily="34" charset="0"/>
                <a:cs typeface="Calibri" panose="020F0502020204030204" pitchFamily="34" charset="0"/>
              </a:rPr>
              <a:t> Model Training</a:t>
            </a:r>
          </a:p>
          <a:p>
            <a:pPr>
              <a:buNone/>
            </a:pPr>
            <a:endParaRPr lang="en-US" sz="1400" b="1" dirty="0">
              <a:latin typeface="Calibri" panose="020F0502020204030204" pitchFamily="34" charset="0"/>
              <a:ea typeface="Calibri" panose="020F0502020204030204" pitchFamily="34" charset="0"/>
              <a:cs typeface="Calibri" panose="020F0502020204030204" pitchFamily="34" charset="0"/>
            </a:endParaRPr>
          </a:p>
          <a:p>
            <a:r>
              <a:rPr lang="en-US" sz="1400" dirty="0">
                <a:latin typeface="Calibri" panose="020F0502020204030204" pitchFamily="34" charset="0"/>
                <a:ea typeface="Calibri" panose="020F0502020204030204" pitchFamily="34" charset="0"/>
                <a:cs typeface="Calibri" panose="020F0502020204030204" pitchFamily="34" charset="0"/>
              </a:rPr>
              <a:t>200 estimators, </a:t>
            </a:r>
            <a:r>
              <a:rPr lang="en-US" sz="1400" dirty="0" err="1">
                <a:latin typeface="Calibri" panose="020F0502020204030204" pitchFamily="34" charset="0"/>
                <a:ea typeface="Calibri" panose="020F0502020204030204" pitchFamily="34" charset="0"/>
                <a:cs typeface="Calibri" panose="020F0502020204030204" pitchFamily="34" charset="0"/>
              </a:rPr>
              <a:t>max_depth</a:t>
            </a:r>
            <a:r>
              <a:rPr lang="en-US" sz="1400" dirty="0">
                <a:latin typeface="Calibri" panose="020F0502020204030204" pitchFamily="34" charset="0"/>
                <a:ea typeface="Calibri" panose="020F0502020204030204" pitchFamily="34" charset="0"/>
                <a:cs typeface="Calibri" panose="020F0502020204030204" pitchFamily="34" charset="0"/>
              </a:rPr>
              <a:t> = 6</a:t>
            </a:r>
          </a:p>
          <a:p>
            <a:r>
              <a:rPr lang="en-US" sz="1400" dirty="0">
                <a:latin typeface="Calibri" panose="020F0502020204030204" pitchFamily="34" charset="0"/>
                <a:ea typeface="Calibri" panose="020F0502020204030204" pitchFamily="34" charset="0"/>
                <a:cs typeface="Calibri" panose="020F0502020204030204" pitchFamily="34" charset="0"/>
              </a:rPr>
              <a:t>Class weighting applied for imbalanced pseudo-labels</a:t>
            </a:r>
          </a:p>
          <a:p>
            <a:r>
              <a:rPr lang="en-US" sz="1400" dirty="0">
                <a:latin typeface="Calibri" panose="020F0502020204030204" pitchFamily="34" charset="0"/>
                <a:ea typeface="Calibri" panose="020F0502020204030204" pitchFamily="34" charset="0"/>
                <a:cs typeface="Calibri" panose="020F0502020204030204" pitchFamily="34" charset="0"/>
              </a:rPr>
              <a:t>6 behavioral input features</a:t>
            </a:r>
          </a:p>
          <a:p>
            <a:r>
              <a:rPr lang="en-US" sz="1400" dirty="0">
                <a:latin typeface="Calibri" panose="020F0502020204030204" pitchFamily="34" charset="0"/>
                <a:ea typeface="Calibri" panose="020F0502020204030204" pitchFamily="34" charset="0"/>
                <a:cs typeface="Calibri" panose="020F0502020204030204" pitchFamily="34" charset="0"/>
              </a:rPr>
              <a:t>1 binary target (Aggressive = 1, Non-aggressive = 0)</a:t>
            </a:r>
          </a:p>
          <a:p>
            <a:r>
              <a:rPr lang="en-US" sz="1400" dirty="0">
                <a:latin typeface="Calibri" panose="020F0502020204030204" pitchFamily="34" charset="0"/>
                <a:ea typeface="Calibri" panose="020F0502020204030204" pitchFamily="34" charset="0"/>
                <a:cs typeface="Calibri" panose="020F0502020204030204" pitchFamily="34" charset="0"/>
              </a:rPr>
              <a:t>Fast inference (&lt;1 </a:t>
            </a:r>
            <a:r>
              <a:rPr lang="en-US" sz="1400" dirty="0" err="1">
                <a:latin typeface="Calibri" panose="020F0502020204030204" pitchFamily="34" charset="0"/>
                <a:ea typeface="Calibri" panose="020F0502020204030204" pitchFamily="34" charset="0"/>
                <a:cs typeface="Calibri" panose="020F0502020204030204" pitchFamily="34" charset="0"/>
              </a:rPr>
              <a:t>ms</a:t>
            </a:r>
            <a:r>
              <a:rPr lang="en-US" sz="1400" dirty="0">
                <a:latin typeface="Calibri" panose="020F0502020204030204" pitchFamily="34" charset="0"/>
                <a:ea typeface="Calibri" panose="020F0502020204030204" pitchFamily="34" charset="0"/>
                <a:cs typeface="Calibri" panose="020F0502020204030204" pitchFamily="34" charset="0"/>
              </a:rPr>
              <a:t>), suitable for real-time scoring</a:t>
            </a:r>
          </a:p>
        </p:txBody>
      </p:sp>
      <p:pic>
        <p:nvPicPr>
          <p:cNvPr id="19" name="Picture 18">
            <a:extLst>
              <a:ext uri="{FF2B5EF4-FFF2-40B4-BE49-F238E27FC236}">
                <a16:creationId xmlns:a16="http://schemas.microsoft.com/office/drawing/2014/main" id="{E0DFAE29-4BA2-0D61-96BB-168C9B1F1F8D}"/>
              </a:ext>
            </a:extLst>
          </p:cNvPr>
          <p:cNvPicPr>
            <a:picLocks noChangeAspect="1"/>
          </p:cNvPicPr>
          <p:nvPr/>
        </p:nvPicPr>
        <p:blipFill>
          <a:blip r:embed="rId3"/>
          <a:stretch>
            <a:fillRect/>
          </a:stretch>
        </p:blipFill>
        <p:spPr>
          <a:xfrm>
            <a:off x="6601069" y="995307"/>
            <a:ext cx="4941814" cy="2793199"/>
          </a:xfrm>
          <a:prstGeom prst="rect">
            <a:avLst/>
          </a:prstGeom>
        </p:spPr>
      </p:pic>
      <p:sp>
        <p:nvSpPr>
          <p:cNvPr id="25" name="TextBox 24">
            <a:extLst>
              <a:ext uri="{FF2B5EF4-FFF2-40B4-BE49-F238E27FC236}">
                <a16:creationId xmlns:a16="http://schemas.microsoft.com/office/drawing/2014/main" id="{317B8017-D41C-A8F7-6BC8-9A5999B358DD}"/>
              </a:ext>
            </a:extLst>
          </p:cNvPr>
          <p:cNvSpPr txBox="1"/>
          <p:nvPr/>
        </p:nvSpPr>
        <p:spPr>
          <a:xfrm>
            <a:off x="497746" y="1344127"/>
            <a:ext cx="6149130" cy="523220"/>
          </a:xfrm>
          <a:prstGeom prst="rect">
            <a:avLst/>
          </a:prstGeom>
          <a:noFill/>
        </p:spPr>
        <p:txBody>
          <a:bodyPr wrap="square">
            <a:spAutoFit/>
          </a:bodyPr>
          <a:lstStyle/>
          <a:p>
            <a:r>
              <a:rPr lang="en-US" sz="1400" dirty="0"/>
              <a:t>Supervised model trained on pseudo-labels using driver-aware splitting to ensure generalization to unseen drivers</a:t>
            </a:r>
          </a:p>
        </p:txBody>
      </p:sp>
      <p:pic>
        <p:nvPicPr>
          <p:cNvPr id="27" name="Picture 26">
            <a:extLst>
              <a:ext uri="{FF2B5EF4-FFF2-40B4-BE49-F238E27FC236}">
                <a16:creationId xmlns:a16="http://schemas.microsoft.com/office/drawing/2014/main" id="{6F1D6881-BF50-D5BE-40EE-AA6D6AA4ADD5}"/>
              </a:ext>
            </a:extLst>
          </p:cNvPr>
          <p:cNvPicPr>
            <a:picLocks noChangeAspect="1"/>
          </p:cNvPicPr>
          <p:nvPr/>
        </p:nvPicPr>
        <p:blipFill>
          <a:blip r:embed="rId4"/>
          <a:stretch>
            <a:fillRect/>
          </a:stretch>
        </p:blipFill>
        <p:spPr>
          <a:xfrm>
            <a:off x="6702301" y="3788506"/>
            <a:ext cx="4941815" cy="2429027"/>
          </a:xfrm>
          <a:prstGeom prst="rect">
            <a:avLst/>
          </a:prstGeom>
        </p:spPr>
      </p:pic>
      <p:sp>
        <p:nvSpPr>
          <p:cNvPr id="28" name="TextBox 27">
            <a:extLst>
              <a:ext uri="{FF2B5EF4-FFF2-40B4-BE49-F238E27FC236}">
                <a16:creationId xmlns:a16="http://schemas.microsoft.com/office/drawing/2014/main" id="{1C90FE15-4708-BB84-DBE9-A32CEA26C076}"/>
              </a:ext>
            </a:extLst>
          </p:cNvPr>
          <p:cNvSpPr txBox="1"/>
          <p:nvPr/>
        </p:nvSpPr>
        <p:spPr>
          <a:xfrm>
            <a:off x="497746" y="5833130"/>
            <a:ext cx="2526333" cy="523220"/>
          </a:xfrm>
          <a:prstGeom prst="rect">
            <a:avLst/>
          </a:prstGeom>
          <a:noFill/>
        </p:spPr>
        <p:txBody>
          <a:bodyPr wrap="none" rtlCol="0">
            <a:spAutoFit/>
          </a:bodyPr>
          <a:lstStyle/>
          <a:p>
            <a:r>
              <a:rPr lang="en-US" sz="1400" b="1" dirty="0">
                <a:latin typeface="Calibri" panose="020F0502020204030204" pitchFamily="34" charset="0"/>
                <a:ea typeface="Calibri" panose="020F0502020204030204" pitchFamily="34" charset="0"/>
                <a:cs typeface="Calibri" panose="020F0502020204030204" pitchFamily="34" charset="0"/>
              </a:rPr>
              <a:t>Validation F1 = 0.9904 (99.04%)</a:t>
            </a:r>
            <a:endParaRPr lang="en-US" sz="1400" dirty="0">
              <a:latin typeface="Calibri" panose="020F0502020204030204" pitchFamily="34" charset="0"/>
              <a:ea typeface="Calibri" panose="020F0502020204030204" pitchFamily="34" charset="0"/>
              <a:cs typeface="Calibri" panose="020F0502020204030204" pitchFamily="34" charset="0"/>
            </a:endParaRPr>
          </a:p>
          <a:p>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86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8962A-BFC5-851A-6B87-717723274D91}"/>
              </a:ext>
            </a:extLst>
          </p:cNvPr>
          <p:cNvSpPr>
            <a:spLocks noGrp="1"/>
          </p:cNvSpPr>
          <p:nvPr>
            <p:ph type="title"/>
          </p:nvPr>
        </p:nvSpPr>
        <p:spPr>
          <a:xfrm>
            <a:off x="520876" y="136525"/>
            <a:ext cx="10515600" cy="1683533"/>
          </a:xfrm>
        </p:spPr>
        <p:txBody>
          <a:bodyPr>
            <a:normAutofit fontScale="90000"/>
          </a:bodyPr>
          <a:lstStyle/>
          <a:p>
            <a:r>
              <a:rPr lang="en-US" dirty="0"/>
              <a:t>Performance </a:t>
            </a:r>
            <a:br>
              <a:rPr lang="en-US" dirty="0"/>
            </a:br>
            <a:r>
              <a:rPr lang="en-US" dirty="0"/>
              <a:t>Aggressive vs Non-Aggressive Driving </a:t>
            </a:r>
            <a:br>
              <a:rPr lang="en-US" dirty="0"/>
            </a:br>
            <a:r>
              <a:rPr lang="en-US" dirty="0"/>
              <a:t>(</a:t>
            </a:r>
            <a:r>
              <a:rPr lang="en-US" dirty="0" err="1"/>
              <a:t>XGBoost</a:t>
            </a:r>
            <a:r>
              <a:rPr lang="en-US" dirty="0"/>
              <a:t> Classifier)</a:t>
            </a:r>
          </a:p>
        </p:txBody>
      </p:sp>
      <p:sp>
        <p:nvSpPr>
          <p:cNvPr id="3" name="Footer Placeholder 2">
            <a:extLst>
              <a:ext uri="{FF2B5EF4-FFF2-40B4-BE49-F238E27FC236}">
                <a16:creationId xmlns:a16="http://schemas.microsoft.com/office/drawing/2014/main" id="{7977D20C-B41B-5409-F7F2-0012711ECA14}"/>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F954B778-740F-1085-1003-2D7FFDB241FB}"/>
              </a:ext>
            </a:extLst>
          </p:cNvPr>
          <p:cNvSpPr>
            <a:spLocks noGrp="1"/>
          </p:cNvSpPr>
          <p:nvPr>
            <p:ph type="sldNum" sz="quarter" idx="12"/>
          </p:nvPr>
        </p:nvSpPr>
        <p:spPr/>
        <p:txBody>
          <a:bodyPr/>
          <a:lstStyle/>
          <a:p>
            <a:fld id="{BF1758FF-0BF1-4103-A89A-38EC40E85429}" type="slidenum">
              <a:rPr lang="en-SG" smtClean="0"/>
              <a:t>11</a:t>
            </a:fld>
            <a:endParaRPr lang="en-SG"/>
          </a:p>
        </p:txBody>
      </p:sp>
      <p:graphicFrame>
        <p:nvGraphicFramePr>
          <p:cNvPr id="23" name="Table 22">
            <a:extLst>
              <a:ext uri="{FF2B5EF4-FFF2-40B4-BE49-F238E27FC236}">
                <a16:creationId xmlns:a16="http://schemas.microsoft.com/office/drawing/2014/main" id="{5EF555C5-E402-5658-A61E-12B404F91B08}"/>
              </a:ext>
            </a:extLst>
          </p:cNvPr>
          <p:cNvGraphicFramePr>
            <a:graphicFrameLocks noGrp="1"/>
          </p:cNvGraphicFramePr>
          <p:nvPr/>
        </p:nvGraphicFramePr>
        <p:xfrm>
          <a:off x="7473312" y="3496233"/>
          <a:ext cx="2557182" cy="1726815"/>
        </p:xfrm>
        <a:graphic>
          <a:graphicData uri="http://schemas.openxmlformats.org/drawingml/2006/table">
            <a:tbl>
              <a:tblPr>
                <a:tableStyleId>{073A0DAA-6AF3-43AB-8588-CEC1D06C72B9}</a:tableStyleId>
              </a:tblPr>
              <a:tblGrid>
                <a:gridCol w="1278591">
                  <a:extLst>
                    <a:ext uri="{9D8B030D-6E8A-4147-A177-3AD203B41FA5}">
                      <a16:colId xmlns:a16="http://schemas.microsoft.com/office/drawing/2014/main" val="3692361237"/>
                    </a:ext>
                  </a:extLst>
                </a:gridCol>
                <a:gridCol w="1278591">
                  <a:extLst>
                    <a:ext uri="{9D8B030D-6E8A-4147-A177-3AD203B41FA5}">
                      <a16:colId xmlns:a16="http://schemas.microsoft.com/office/drawing/2014/main" val="918213684"/>
                    </a:ext>
                  </a:extLst>
                </a:gridCol>
              </a:tblGrid>
              <a:tr h="345363">
                <a:tc>
                  <a:txBody>
                    <a:bodyPr/>
                    <a:lstStyle/>
                    <a:p>
                      <a:r>
                        <a:rPr lang="en-US" sz="1400" b="1" dirty="0"/>
                        <a:t>Metric</a:t>
                      </a:r>
                    </a:p>
                  </a:txBody>
                  <a:tcPr anchor="ctr"/>
                </a:tc>
                <a:tc>
                  <a:txBody>
                    <a:bodyPr/>
                    <a:lstStyle/>
                    <a:p>
                      <a:r>
                        <a:rPr lang="en-US" sz="1400" b="1" dirty="0"/>
                        <a:t>Value</a:t>
                      </a:r>
                    </a:p>
                  </a:txBody>
                  <a:tcPr anchor="ctr"/>
                </a:tc>
                <a:extLst>
                  <a:ext uri="{0D108BD9-81ED-4DB2-BD59-A6C34878D82A}">
                    <a16:rowId xmlns:a16="http://schemas.microsoft.com/office/drawing/2014/main" val="323595921"/>
                  </a:ext>
                </a:extLst>
              </a:tr>
              <a:tr h="345363">
                <a:tc>
                  <a:txBody>
                    <a:bodyPr/>
                    <a:lstStyle/>
                    <a:p>
                      <a:r>
                        <a:rPr lang="en-US" sz="1400" b="0" dirty="0"/>
                        <a:t>Accuracy</a:t>
                      </a:r>
                    </a:p>
                  </a:txBody>
                  <a:tcPr anchor="ctr"/>
                </a:tc>
                <a:tc>
                  <a:txBody>
                    <a:bodyPr/>
                    <a:lstStyle/>
                    <a:p>
                      <a:r>
                        <a:rPr lang="en-US" sz="1400" b="0" dirty="0"/>
                        <a:t>0.997</a:t>
                      </a:r>
                    </a:p>
                  </a:txBody>
                  <a:tcPr anchor="ctr"/>
                </a:tc>
                <a:extLst>
                  <a:ext uri="{0D108BD9-81ED-4DB2-BD59-A6C34878D82A}">
                    <a16:rowId xmlns:a16="http://schemas.microsoft.com/office/drawing/2014/main" val="342803170"/>
                  </a:ext>
                </a:extLst>
              </a:tr>
              <a:tr h="345363">
                <a:tc>
                  <a:txBody>
                    <a:bodyPr/>
                    <a:lstStyle/>
                    <a:p>
                      <a:r>
                        <a:rPr lang="en-US" sz="1400" b="0"/>
                        <a:t>Precision</a:t>
                      </a:r>
                    </a:p>
                  </a:txBody>
                  <a:tcPr anchor="ctr"/>
                </a:tc>
                <a:tc>
                  <a:txBody>
                    <a:bodyPr/>
                    <a:lstStyle/>
                    <a:p>
                      <a:r>
                        <a:rPr lang="en-US" sz="1400" b="0" dirty="0"/>
                        <a:t>0.983</a:t>
                      </a:r>
                    </a:p>
                  </a:txBody>
                  <a:tcPr anchor="ctr"/>
                </a:tc>
                <a:extLst>
                  <a:ext uri="{0D108BD9-81ED-4DB2-BD59-A6C34878D82A}">
                    <a16:rowId xmlns:a16="http://schemas.microsoft.com/office/drawing/2014/main" val="1397601465"/>
                  </a:ext>
                </a:extLst>
              </a:tr>
              <a:tr h="345363">
                <a:tc>
                  <a:txBody>
                    <a:bodyPr/>
                    <a:lstStyle/>
                    <a:p>
                      <a:r>
                        <a:rPr lang="en-US" sz="1400" b="0" dirty="0"/>
                        <a:t>Recall</a:t>
                      </a:r>
                    </a:p>
                  </a:txBody>
                  <a:tcPr anchor="ctr"/>
                </a:tc>
                <a:tc>
                  <a:txBody>
                    <a:bodyPr/>
                    <a:lstStyle/>
                    <a:p>
                      <a:r>
                        <a:rPr lang="en-US" sz="1400" b="0" dirty="0"/>
                        <a:t>0.997</a:t>
                      </a:r>
                    </a:p>
                  </a:txBody>
                  <a:tcPr anchor="ctr"/>
                </a:tc>
                <a:extLst>
                  <a:ext uri="{0D108BD9-81ED-4DB2-BD59-A6C34878D82A}">
                    <a16:rowId xmlns:a16="http://schemas.microsoft.com/office/drawing/2014/main" val="1232087951"/>
                  </a:ext>
                </a:extLst>
              </a:tr>
              <a:tr h="345363">
                <a:tc>
                  <a:txBody>
                    <a:bodyPr/>
                    <a:lstStyle/>
                    <a:p>
                      <a:r>
                        <a:rPr lang="en-US" sz="1400" b="0"/>
                        <a:t>F1 Score</a:t>
                      </a:r>
                    </a:p>
                  </a:txBody>
                  <a:tcPr anchor="ctr"/>
                </a:tc>
                <a:tc>
                  <a:txBody>
                    <a:bodyPr/>
                    <a:lstStyle/>
                    <a:p>
                      <a:r>
                        <a:rPr lang="en-US" sz="1400" b="0" dirty="0"/>
                        <a:t>0.990</a:t>
                      </a:r>
                    </a:p>
                  </a:txBody>
                  <a:tcPr anchor="ctr"/>
                </a:tc>
                <a:extLst>
                  <a:ext uri="{0D108BD9-81ED-4DB2-BD59-A6C34878D82A}">
                    <a16:rowId xmlns:a16="http://schemas.microsoft.com/office/drawing/2014/main" val="1867324542"/>
                  </a:ext>
                </a:extLst>
              </a:tr>
            </a:tbl>
          </a:graphicData>
        </a:graphic>
      </p:graphicFrame>
      <p:graphicFrame>
        <p:nvGraphicFramePr>
          <p:cNvPr id="26" name="Table 25">
            <a:extLst>
              <a:ext uri="{FF2B5EF4-FFF2-40B4-BE49-F238E27FC236}">
                <a16:creationId xmlns:a16="http://schemas.microsoft.com/office/drawing/2014/main" id="{84282E13-1286-CD4D-ABA5-FC349A246688}"/>
              </a:ext>
            </a:extLst>
          </p:cNvPr>
          <p:cNvGraphicFramePr>
            <a:graphicFrameLocks noGrp="1"/>
          </p:cNvGraphicFramePr>
          <p:nvPr/>
        </p:nvGraphicFramePr>
        <p:xfrm>
          <a:off x="566352" y="2133600"/>
          <a:ext cx="3618472" cy="3564506"/>
        </p:xfrm>
        <a:graphic>
          <a:graphicData uri="http://schemas.openxmlformats.org/drawingml/2006/table">
            <a:tbl>
              <a:tblPr>
                <a:tableStyleId>{073A0DAA-6AF3-43AB-8588-CEC1D06C72B9}</a:tableStyleId>
              </a:tblPr>
              <a:tblGrid>
                <a:gridCol w="562937">
                  <a:extLst>
                    <a:ext uri="{9D8B030D-6E8A-4147-A177-3AD203B41FA5}">
                      <a16:colId xmlns:a16="http://schemas.microsoft.com/office/drawing/2014/main" val="592250343"/>
                    </a:ext>
                  </a:extLst>
                </a:gridCol>
                <a:gridCol w="1799076">
                  <a:extLst>
                    <a:ext uri="{9D8B030D-6E8A-4147-A177-3AD203B41FA5}">
                      <a16:colId xmlns:a16="http://schemas.microsoft.com/office/drawing/2014/main" val="970613142"/>
                    </a:ext>
                  </a:extLst>
                </a:gridCol>
                <a:gridCol w="1256459">
                  <a:extLst>
                    <a:ext uri="{9D8B030D-6E8A-4147-A177-3AD203B41FA5}">
                      <a16:colId xmlns:a16="http://schemas.microsoft.com/office/drawing/2014/main" val="1581628898"/>
                    </a:ext>
                  </a:extLst>
                </a:gridCol>
              </a:tblGrid>
              <a:tr h="421522">
                <a:tc>
                  <a:txBody>
                    <a:bodyPr/>
                    <a:lstStyle/>
                    <a:p>
                      <a:r>
                        <a:rPr lang="en-US" sz="1400" b="1" dirty="0"/>
                        <a:t>Rank</a:t>
                      </a:r>
                      <a:endParaRPr lang="en-US" sz="1400" dirty="0"/>
                    </a:p>
                  </a:txBody>
                  <a:tcPr marL="42246" marR="42246" marT="21123" marB="21123" anchor="ctr"/>
                </a:tc>
                <a:tc>
                  <a:txBody>
                    <a:bodyPr/>
                    <a:lstStyle/>
                    <a:p>
                      <a:r>
                        <a:rPr lang="en-US" sz="1400" b="1" dirty="0"/>
                        <a:t>Feature</a:t>
                      </a:r>
                      <a:endParaRPr lang="en-US" sz="1400" dirty="0"/>
                    </a:p>
                  </a:txBody>
                  <a:tcPr marL="42246" marR="42246" marT="21123" marB="21123" anchor="ctr"/>
                </a:tc>
                <a:tc>
                  <a:txBody>
                    <a:bodyPr/>
                    <a:lstStyle/>
                    <a:p>
                      <a:r>
                        <a:rPr lang="en-US" sz="1400" b="1" dirty="0"/>
                        <a:t>Importance</a:t>
                      </a:r>
                      <a:endParaRPr lang="en-US" sz="1400" dirty="0"/>
                    </a:p>
                  </a:txBody>
                  <a:tcPr marL="42246" marR="42246" marT="21123" marB="21123" anchor="ctr"/>
                </a:tc>
                <a:extLst>
                  <a:ext uri="{0D108BD9-81ED-4DB2-BD59-A6C34878D82A}">
                    <a16:rowId xmlns:a16="http://schemas.microsoft.com/office/drawing/2014/main" val="2961962036"/>
                  </a:ext>
                </a:extLst>
              </a:tr>
              <a:tr h="483209">
                <a:tc>
                  <a:txBody>
                    <a:bodyPr/>
                    <a:lstStyle/>
                    <a:p>
                      <a:r>
                        <a:rPr lang="en-US" sz="1400" b="0"/>
                        <a:t>1</a:t>
                      </a:r>
                    </a:p>
                  </a:txBody>
                  <a:tcPr marL="42246" marR="42246" marT="21123" marB="21123" anchor="ctr"/>
                </a:tc>
                <a:tc>
                  <a:txBody>
                    <a:bodyPr/>
                    <a:lstStyle/>
                    <a:p>
                      <a:r>
                        <a:rPr lang="en-US" sz="1400" b="0" dirty="0"/>
                        <a:t>rpm</a:t>
                      </a:r>
                    </a:p>
                  </a:txBody>
                  <a:tcPr marL="42246" marR="42246" marT="21123" marB="21123" anchor="ctr"/>
                </a:tc>
                <a:tc>
                  <a:txBody>
                    <a:bodyPr/>
                    <a:lstStyle/>
                    <a:p>
                      <a:r>
                        <a:rPr lang="en-US" sz="1400" b="0"/>
                        <a:t>92.3%</a:t>
                      </a:r>
                    </a:p>
                  </a:txBody>
                  <a:tcPr marL="42246" marR="42246" marT="21123" marB="21123" anchor="ctr"/>
                </a:tc>
                <a:extLst>
                  <a:ext uri="{0D108BD9-81ED-4DB2-BD59-A6C34878D82A}">
                    <a16:rowId xmlns:a16="http://schemas.microsoft.com/office/drawing/2014/main" val="2494790963"/>
                  </a:ext>
                </a:extLst>
              </a:tr>
              <a:tr h="552681">
                <a:tc>
                  <a:txBody>
                    <a:bodyPr/>
                    <a:lstStyle/>
                    <a:p>
                      <a:r>
                        <a:rPr lang="en-US" sz="1400" b="0"/>
                        <a:t>2</a:t>
                      </a:r>
                    </a:p>
                  </a:txBody>
                  <a:tcPr marL="42246" marR="42246" marT="21123" marB="21123" anchor="ctr"/>
                </a:tc>
                <a:tc>
                  <a:txBody>
                    <a:bodyPr/>
                    <a:lstStyle/>
                    <a:p>
                      <a:r>
                        <a:rPr lang="en-US" sz="1400" b="0" dirty="0" err="1"/>
                        <a:t>lane_deviation</a:t>
                      </a:r>
                      <a:endParaRPr lang="en-US" sz="1400" b="0" dirty="0"/>
                    </a:p>
                  </a:txBody>
                  <a:tcPr marL="42246" marR="42246" marT="21123" marB="21123" anchor="ctr"/>
                </a:tc>
                <a:tc>
                  <a:txBody>
                    <a:bodyPr/>
                    <a:lstStyle/>
                    <a:p>
                      <a:r>
                        <a:rPr lang="en-US" sz="1400" b="0" dirty="0"/>
                        <a:t>4.3%</a:t>
                      </a:r>
                    </a:p>
                  </a:txBody>
                  <a:tcPr marL="42246" marR="42246" marT="21123" marB="21123" anchor="ctr"/>
                </a:tc>
                <a:extLst>
                  <a:ext uri="{0D108BD9-81ED-4DB2-BD59-A6C34878D82A}">
                    <a16:rowId xmlns:a16="http://schemas.microsoft.com/office/drawing/2014/main" val="1996303746"/>
                  </a:ext>
                </a:extLst>
              </a:tr>
              <a:tr h="449052">
                <a:tc>
                  <a:txBody>
                    <a:bodyPr/>
                    <a:lstStyle/>
                    <a:p>
                      <a:r>
                        <a:rPr lang="en-US" sz="1400" b="0"/>
                        <a:t>3</a:t>
                      </a:r>
                    </a:p>
                  </a:txBody>
                  <a:tcPr marL="42246" marR="42246" marT="21123" marB="21123" anchor="ctr"/>
                </a:tc>
                <a:tc>
                  <a:txBody>
                    <a:bodyPr/>
                    <a:lstStyle/>
                    <a:p>
                      <a:r>
                        <a:rPr lang="en-US" sz="1400" b="0"/>
                        <a:t>acceleration</a:t>
                      </a:r>
                    </a:p>
                  </a:txBody>
                  <a:tcPr marL="42246" marR="42246" marT="21123" marB="21123" anchor="ctr"/>
                </a:tc>
                <a:tc>
                  <a:txBody>
                    <a:bodyPr/>
                    <a:lstStyle/>
                    <a:p>
                      <a:r>
                        <a:rPr lang="en-US" sz="1400" b="0"/>
                        <a:t>2.5%</a:t>
                      </a:r>
                    </a:p>
                  </a:txBody>
                  <a:tcPr marL="42246" marR="42246" marT="21123" marB="21123" anchor="ctr"/>
                </a:tc>
                <a:extLst>
                  <a:ext uri="{0D108BD9-81ED-4DB2-BD59-A6C34878D82A}">
                    <a16:rowId xmlns:a16="http://schemas.microsoft.com/office/drawing/2014/main" val="1636726258"/>
                  </a:ext>
                </a:extLst>
              </a:tr>
              <a:tr h="552681">
                <a:tc>
                  <a:txBody>
                    <a:bodyPr/>
                    <a:lstStyle/>
                    <a:p>
                      <a:r>
                        <a:rPr lang="en-US" sz="1400" b="0"/>
                        <a:t>4</a:t>
                      </a:r>
                    </a:p>
                  </a:txBody>
                  <a:tcPr marL="42246" marR="42246" marT="21123" marB="21123" anchor="ctr"/>
                </a:tc>
                <a:tc>
                  <a:txBody>
                    <a:bodyPr/>
                    <a:lstStyle/>
                    <a:p>
                      <a:r>
                        <a:rPr lang="en-US" sz="1400" b="0"/>
                        <a:t>steering_angle</a:t>
                      </a:r>
                    </a:p>
                  </a:txBody>
                  <a:tcPr marL="42246" marR="42246" marT="21123" marB="21123" anchor="ctr"/>
                </a:tc>
                <a:tc>
                  <a:txBody>
                    <a:bodyPr/>
                    <a:lstStyle/>
                    <a:p>
                      <a:r>
                        <a:rPr lang="en-US" sz="1400" b="0" dirty="0"/>
                        <a:t>&lt;1%</a:t>
                      </a:r>
                    </a:p>
                  </a:txBody>
                  <a:tcPr marL="42246" marR="42246" marT="21123" marB="21123" anchor="ctr"/>
                </a:tc>
                <a:extLst>
                  <a:ext uri="{0D108BD9-81ED-4DB2-BD59-A6C34878D82A}">
                    <a16:rowId xmlns:a16="http://schemas.microsoft.com/office/drawing/2014/main" val="2988927585"/>
                  </a:ext>
                </a:extLst>
              </a:tr>
              <a:tr h="449052">
                <a:tc>
                  <a:txBody>
                    <a:bodyPr/>
                    <a:lstStyle/>
                    <a:p>
                      <a:r>
                        <a:rPr lang="en-US" sz="1400" b="0"/>
                        <a:t>5</a:t>
                      </a:r>
                    </a:p>
                  </a:txBody>
                  <a:tcPr marL="42246" marR="42246" marT="21123" marB="21123" anchor="ctr"/>
                </a:tc>
                <a:tc>
                  <a:txBody>
                    <a:bodyPr/>
                    <a:lstStyle/>
                    <a:p>
                      <a:r>
                        <a:rPr lang="en-US" sz="1400" b="0"/>
                        <a:t>acceleration_variation</a:t>
                      </a:r>
                    </a:p>
                  </a:txBody>
                  <a:tcPr marL="42246" marR="42246" marT="21123" marB="21123" anchor="ctr"/>
                </a:tc>
                <a:tc>
                  <a:txBody>
                    <a:bodyPr/>
                    <a:lstStyle/>
                    <a:p>
                      <a:r>
                        <a:rPr lang="en-US" sz="1400" b="0" dirty="0"/>
                        <a:t>&lt;1%</a:t>
                      </a:r>
                    </a:p>
                  </a:txBody>
                  <a:tcPr marL="42246" marR="42246" marT="21123" marB="21123" anchor="ctr"/>
                </a:tc>
                <a:extLst>
                  <a:ext uri="{0D108BD9-81ED-4DB2-BD59-A6C34878D82A}">
                    <a16:rowId xmlns:a16="http://schemas.microsoft.com/office/drawing/2014/main" val="3035836017"/>
                  </a:ext>
                </a:extLst>
              </a:tr>
              <a:tr h="656309">
                <a:tc>
                  <a:txBody>
                    <a:bodyPr/>
                    <a:lstStyle/>
                    <a:p>
                      <a:r>
                        <a:rPr lang="en-US" sz="1400" b="0"/>
                        <a:t>6</a:t>
                      </a:r>
                    </a:p>
                  </a:txBody>
                  <a:tcPr marL="42246" marR="42246" marT="21123" marB="21123" anchor="ctr"/>
                </a:tc>
                <a:tc>
                  <a:txBody>
                    <a:bodyPr/>
                    <a:lstStyle/>
                    <a:p>
                      <a:r>
                        <a:rPr lang="en-US" sz="1400" b="0" dirty="0" err="1"/>
                        <a:t>brake_usage</a:t>
                      </a:r>
                      <a:endParaRPr lang="en-US" sz="1400" b="0" dirty="0"/>
                    </a:p>
                  </a:txBody>
                  <a:tcPr marL="42246" marR="42246" marT="21123" marB="21123" anchor="ctr"/>
                </a:tc>
                <a:tc>
                  <a:txBody>
                    <a:bodyPr/>
                    <a:lstStyle/>
                    <a:p>
                      <a:r>
                        <a:rPr lang="en-US" sz="1400" b="0" dirty="0"/>
                        <a:t>&lt;1%</a:t>
                      </a:r>
                    </a:p>
                  </a:txBody>
                  <a:tcPr marL="42246" marR="42246" marT="21123" marB="21123" anchor="ctr"/>
                </a:tc>
                <a:extLst>
                  <a:ext uri="{0D108BD9-81ED-4DB2-BD59-A6C34878D82A}">
                    <a16:rowId xmlns:a16="http://schemas.microsoft.com/office/drawing/2014/main" val="1365539551"/>
                  </a:ext>
                </a:extLst>
              </a:tr>
            </a:tbl>
          </a:graphicData>
        </a:graphic>
      </p:graphicFrame>
      <p:sp>
        <p:nvSpPr>
          <p:cNvPr id="27" name="TextBox 26">
            <a:extLst>
              <a:ext uri="{FF2B5EF4-FFF2-40B4-BE49-F238E27FC236}">
                <a16:creationId xmlns:a16="http://schemas.microsoft.com/office/drawing/2014/main" id="{7D39D9C5-A64A-6379-80A0-D5900EB958CE}"/>
              </a:ext>
            </a:extLst>
          </p:cNvPr>
          <p:cNvSpPr txBox="1"/>
          <p:nvPr/>
        </p:nvSpPr>
        <p:spPr>
          <a:xfrm>
            <a:off x="520876" y="5823755"/>
            <a:ext cx="10538606" cy="523220"/>
          </a:xfrm>
          <a:prstGeom prst="rect">
            <a:avLst/>
          </a:prstGeom>
          <a:noFill/>
        </p:spPr>
        <p:txBody>
          <a:bodyPr wrap="square" rtlCol="0">
            <a:spAutoFit/>
          </a:bodyPr>
          <a:lstStyle/>
          <a:p>
            <a:r>
              <a:rPr lang="en-US" sz="1400" dirty="0"/>
              <a:t>The model achieves &gt;99% accuracy with extremely low false positives and false negatives, demonstrating reliable aggressive-driving classification.</a:t>
            </a:r>
          </a:p>
        </p:txBody>
      </p:sp>
      <p:graphicFrame>
        <p:nvGraphicFramePr>
          <p:cNvPr id="28" name="Table 27">
            <a:extLst>
              <a:ext uri="{FF2B5EF4-FFF2-40B4-BE49-F238E27FC236}">
                <a16:creationId xmlns:a16="http://schemas.microsoft.com/office/drawing/2014/main" id="{354CBD9C-3772-653B-7D77-B675E2705709}"/>
              </a:ext>
            </a:extLst>
          </p:cNvPr>
          <p:cNvGraphicFramePr>
            <a:graphicFrameLocks noGrp="1"/>
          </p:cNvGraphicFramePr>
          <p:nvPr/>
        </p:nvGraphicFramePr>
        <p:xfrm>
          <a:off x="5316707" y="2139643"/>
          <a:ext cx="4713787" cy="1112520"/>
        </p:xfrm>
        <a:graphic>
          <a:graphicData uri="http://schemas.openxmlformats.org/drawingml/2006/table">
            <a:tbl>
              <a:tblPr firstRow="1" bandRow="1">
                <a:tableStyleId>{5C22544A-7EE6-4342-B048-85BDC9FD1C3A}</a:tableStyleId>
              </a:tblPr>
              <a:tblGrid>
                <a:gridCol w="1396779">
                  <a:extLst>
                    <a:ext uri="{9D8B030D-6E8A-4147-A177-3AD203B41FA5}">
                      <a16:colId xmlns:a16="http://schemas.microsoft.com/office/drawing/2014/main" val="617818960"/>
                    </a:ext>
                  </a:extLst>
                </a:gridCol>
                <a:gridCol w="1658504">
                  <a:extLst>
                    <a:ext uri="{9D8B030D-6E8A-4147-A177-3AD203B41FA5}">
                      <a16:colId xmlns:a16="http://schemas.microsoft.com/office/drawing/2014/main" val="624792598"/>
                    </a:ext>
                  </a:extLst>
                </a:gridCol>
                <a:gridCol w="1658504">
                  <a:extLst>
                    <a:ext uri="{9D8B030D-6E8A-4147-A177-3AD203B41FA5}">
                      <a16:colId xmlns:a16="http://schemas.microsoft.com/office/drawing/2014/main" val="362422353"/>
                    </a:ext>
                  </a:extLst>
                </a:gridCol>
              </a:tblGrid>
              <a:tr h="370840">
                <a:tc>
                  <a:txBody>
                    <a:bodyPr/>
                    <a:lstStyle/>
                    <a:p>
                      <a:r>
                        <a:rPr lang="en-US" sz="1400" dirty="0"/>
                        <a:t>Label</a:t>
                      </a:r>
                    </a:p>
                  </a:txBody>
                  <a:tcPr/>
                </a:tc>
                <a:tc>
                  <a:txBody>
                    <a:bodyPr/>
                    <a:lstStyle/>
                    <a:p>
                      <a:r>
                        <a:rPr lang="en-US" sz="1400" dirty="0"/>
                        <a:t>Meaning</a:t>
                      </a:r>
                    </a:p>
                  </a:txBody>
                  <a:tcPr/>
                </a:tc>
                <a:tc>
                  <a:txBody>
                    <a:bodyPr/>
                    <a:lstStyle/>
                    <a:p>
                      <a:r>
                        <a:rPr lang="en-US" sz="1400" dirty="0"/>
                        <a:t>Distribution</a:t>
                      </a:r>
                    </a:p>
                  </a:txBody>
                  <a:tcPr/>
                </a:tc>
                <a:extLst>
                  <a:ext uri="{0D108BD9-81ED-4DB2-BD59-A6C34878D82A}">
                    <a16:rowId xmlns:a16="http://schemas.microsoft.com/office/drawing/2014/main" val="2362460736"/>
                  </a:ext>
                </a:extLst>
              </a:tr>
              <a:tr h="370840">
                <a:tc>
                  <a:txBody>
                    <a:bodyPr/>
                    <a:lstStyle/>
                    <a:p>
                      <a:r>
                        <a:rPr lang="en-US" sz="1400" dirty="0"/>
                        <a:t>0</a:t>
                      </a:r>
                    </a:p>
                  </a:txBody>
                  <a:tcPr/>
                </a:tc>
                <a:tc>
                  <a:txBody>
                    <a:bodyPr/>
                    <a:lstStyle/>
                    <a:p>
                      <a:r>
                        <a:rPr lang="en-US" sz="1400" dirty="0"/>
                        <a:t>Non-aggressive</a:t>
                      </a:r>
                    </a:p>
                  </a:txBody>
                  <a:tcPr/>
                </a:tc>
                <a:tc>
                  <a:txBody>
                    <a:bodyPr/>
                    <a:lstStyle/>
                    <a:p>
                      <a:r>
                        <a:rPr lang="en-US" sz="1400" dirty="0"/>
                        <a:t>86.9%</a:t>
                      </a:r>
                    </a:p>
                  </a:txBody>
                  <a:tcPr/>
                </a:tc>
                <a:extLst>
                  <a:ext uri="{0D108BD9-81ED-4DB2-BD59-A6C34878D82A}">
                    <a16:rowId xmlns:a16="http://schemas.microsoft.com/office/drawing/2014/main" val="1674383048"/>
                  </a:ext>
                </a:extLst>
              </a:tr>
              <a:tr h="370840">
                <a:tc>
                  <a:txBody>
                    <a:bodyPr/>
                    <a:lstStyle/>
                    <a:p>
                      <a:r>
                        <a:rPr lang="en-US" sz="1400" dirty="0"/>
                        <a:t>1</a:t>
                      </a:r>
                    </a:p>
                  </a:txBody>
                  <a:tcPr/>
                </a:tc>
                <a:tc>
                  <a:txBody>
                    <a:bodyPr/>
                    <a:lstStyle/>
                    <a:p>
                      <a:r>
                        <a:rPr lang="en-US" sz="1400" dirty="0"/>
                        <a:t>Aggressive</a:t>
                      </a:r>
                    </a:p>
                  </a:txBody>
                  <a:tcPr/>
                </a:tc>
                <a:tc>
                  <a:txBody>
                    <a:bodyPr/>
                    <a:lstStyle/>
                    <a:p>
                      <a:r>
                        <a:rPr lang="en-US" sz="1400" dirty="0"/>
                        <a:t>13.1%</a:t>
                      </a:r>
                    </a:p>
                  </a:txBody>
                  <a:tcPr/>
                </a:tc>
                <a:extLst>
                  <a:ext uri="{0D108BD9-81ED-4DB2-BD59-A6C34878D82A}">
                    <a16:rowId xmlns:a16="http://schemas.microsoft.com/office/drawing/2014/main" val="397469412"/>
                  </a:ext>
                </a:extLst>
              </a:tr>
            </a:tbl>
          </a:graphicData>
        </a:graphic>
      </p:graphicFrame>
      <p:grpSp>
        <p:nvGrpSpPr>
          <p:cNvPr id="30" name="Group 29">
            <a:extLst>
              <a:ext uri="{FF2B5EF4-FFF2-40B4-BE49-F238E27FC236}">
                <a16:creationId xmlns:a16="http://schemas.microsoft.com/office/drawing/2014/main" id="{4AB4449D-0ED5-F880-7E0D-3E9D959ECB14}"/>
              </a:ext>
            </a:extLst>
          </p:cNvPr>
          <p:cNvGrpSpPr/>
          <p:nvPr/>
        </p:nvGrpSpPr>
        <p:grpSpPr>
          <a:xfrm>
            <a:off x="4829513" y="3320127"/>
            <a:ext cx="2628668" cy="2368604"/>
            <a:chOff x="4829513" y="3320127"/>
            <a:chExt cx="2628668" cy="2368604"/>
          </a:xfrm>
        </p:grpSpPr>
        <p:grpSp>
          <p:nvGrpSpPr>
            <p:cNvPr id="22" name="Group 21">
              <a:extLst>
                <a:ext uri="{FF2B5EF4-FFF2-40B4-BE49-F238E27FC236}">
                  <a16:creationId xmlns:a16="http://schemas.microsoft.com/office/drawing/2014/main" id="{D4743320-40C8-BF99-2FA7-A481D78F6EF8}"/>
                </a:ext>
              </a:extLst>
            </p:cNvPr>
            <p:cNvGrpSpPr/>
            <p:nvPr/>
          </p:nvGrpSpPr>
          <p:grpSpPr>
            <a:xfrm>
              <a:off x="4829513" y="3571803"/>
              <a:ext cx="2243667" cy="2116928"/>
              <a:chOff x="1424802" y="2205317"/>
              <a:chExt cx="2851362" cy="2540751"/>
            </a:xfrm>
          </p:grpSpPr>
          <p:sp>
            <p:nvSpPr>
              <p:cNvPr id="10" name="Rectangle 9">
                <a:extLst>
                  <a:ext uri="{FF2B5EF4-FFF2-40B4-BE49-F238E27FC236}">
                    <a16:creationId xmlns:a16="http://schemas.microsoft.com/office/drawing/2014/main" id="{C1818AF3-69B5-5680-8C4F-BBE79E261AE0}"/>
                  </a:ext>
                </a:extLst>
              </p:cNvPr>
              <p:cNvSpPr/>
              <p:nvPr/>
            </p:nvSpPr>
            <p:spPr>
              <a:xfrm>
                <a:off x="2043953" y="2205317"/>
                <a:ext cx="1111623" cy="932330"/>
              </a:xfrm>
              <a:prstGeom prst="rect">
                <a:avLst/>
              </a:prstGeom>
              <a:scene3d>
                <a:camera prst="orthographicFront"/>
                <a:lightRig rig="threePt" dir="t"/>
              </a:scene3d>
              <a:sp3d>
                <a:bevelT w="139700" prst="cross"/>
              </a:sp3d>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20869</a:t>
                </a:r>
              </a:p>
            </p:txBody>
          </p:sp>
          <p:sp>
            <p:nvSpPr>
              <p:cNvPr id="11" name="Rectangle 10">
                <a:extLst>
                  <a:ext uri="{FF2B5EF4-FFF2-40B4-BE49-F238E27FC236}">
                    <a16:creationId xmlns:a16="http://schemas.microsoft.com/office/drawing/2014/main" id="{55C652EE-049F-6E07-26C8-5646795C2930}"/>
                  </a:ext>
                </a:extLst>
              </p:cNvPr>
              <p:cNvSpPr/>
              <p:nvPr/>
            </p:nvSpPr>
            <p:spPr>
              <a:xfrm>
                <a:off x="3155576" y="3146612"/>
                <a:ext cx="1111623" cy="932330"/>
              </a:xfrm>
              <a:prstGeom prst="rect">
                <a:avLst/>
              </a:prstGeom>
              <a:scene3d>
                <a:camera prst="orthographicFront"/>
                <a:lightRig rig="threePt" dir="t"/>
              </a:scene3d>
              <a:sp3d>
                <a:bevelT w="139700" prst="cross"/>
              </a:sp3d>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t>3231</a:t>
                </a:r>
              </a:p>
            </p:txBody>
          </p:sp>
          <p:sp>
            <p:nvSpPr>
              <p:cNvPr id="12" name="Rectangle 11">
                <a:extLst>
                  <a:ext uri="{FF2B5EF4-FFF2-40B4-BE49-F238E27FC236}">
                    <a16:creationId xmlns:a16="http://schemas.microsoft.com/office/drawing/2014/main" id="{8D34A8C0-5B35-BF43-0DC5-A41C3A6902BA}"/>
                  </a:ext>
                </a:extLst>
              </p:cNvPr>
              <p:cNvSpPr/>
              <p:nvPr/>
            </p:nvSpPr>
            <p:spPr>
              <a:xfrm>
                <a:off x="3164541" y="2205317"/>
                <a:ext cx="1111623" cy="932330"/>
              </a:xfrm>
              <a:prstGeom prst="rect">
                <a:avLst/>
              </a:prstGeom>
              <a:solidFill>
                <a:srgbClr val="A50021"/>
              </a:solidFill>
              <a:scene3d>
                <a:camera prst="orthographicFront"/>
                <a:lightRig rig="threePt" dir="t"/>
              </a:scene3d>
              <a:sp3d>
                <a:bevelT w="139700" prst="cross"/>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55</a:t>
                </a:r>
              </a:p>
            </p:txBody>
          </p:sp>
          <p:sp>
            <p:nvSpPr>
              <p:cNvPr id="13" name="Rectangle 12">
                <a:extLst>
                  <a:ext uri="{FF2B5EF4-FFF2-40B4-BE49-F238E27FC236}">
                    <a16:creationId xmlns:a16="http://schemas.microsoft.com/office/drawing/2014/main" id="{408B205F-9A91-6C2D-B846-46E52F0BD082}"/>
                  </a:ext>
                </a:extLst>
              </p:cNvPr>
              <p:cNvSpPr/>
              <p:nvPr/>
            </p:nvSpPr>
            <p:spPr>
              <a:xfrm>
                <a:off x="2043952" y="3146612"/>
                <a:ext cx="1111623" cy="932330"/>
              </a:xfrm>
              <a:prstGeom prst="rect">
                <a:avLst/>
              </a:prstGeom>
              <a:solidFill>
                <a:srgbClr val="A50021"/>
              </a:solidFill>
              <a:scene3d>
                <a:camera prst="orthographicFront"/>
                <a:lightRig rig="threePt" dir="t"/>
              </a:scene3d>
              <a:sp3d>
                <a:bevelT w="139700" prst="cross"/>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8</a:t>
                </a:r>
              </a:p>
            </p:txBody>
          </p:sp>
          <p:sp>
            <p:nvSpPr>
              <p:cNvPr id="14" name="TextBox 13">
                <a:extLst>
                  <a:ext uri="{FF2B5EF4-FFF2-40B4-BE49-F238E27FC236}">
                    <a16:creationId xmlns:a16="http://schemas.microsoft.com/office/drawing/2014/main" id="{A73D1399-CD69-B420-4B24-C281A778EB14}"/>
                  </a:ext>
                </a:extLst>
              </p:cNvPr>
              <p:cNvSpPr txBox="1"/>
              <p:nvPr/>
            </p:nvSpPr>
            <p:spPr>
              <a:xfrm rot="16200000">
                <a:off x="1029222" y="2944423"/>
                <a:ext cx="1182297" cy="391138"/>
              </a:xfrm>
              <a:prstGeom prst="rect">
                <a:avLst/>
              </a:prstGeom>
              <a:noFill/>
              <a:scene3d>
                <a:camera prst="orthographicFront"/>
                <a:lightRig rig="threePt" dir="t"/>
              </a:scene3d>
              <a:sp3d>
                <a:bevelT w="139700" prst="cross"/>
              </a:sp3d>
            </p:spPr>
            <p:txBody>
              <a:bodyPr wrap="none" rtlCol="0">
                <a:spAutoFit/>
              </a:bodyPr>
              <a:lstStyle/>
              <a:p>
                <a:r>
                  <a:rPr lang="en-US" sz="1400" dirty="0"/>
                  <a:t>True Label</a:t>
                </a:r>
              </a:p>
            </p:txBody>
          </p:sp>
          <p:sp>
            <p:nvSpPr>
              <p:cNvPr id="15" name="TextBox 14">
                <a:extLst>
                  <a:ext uri="{FF2B5EF4-FFF2-40B4-BE49-F238E27FC236}">
                    <a16:creationId xmlns:a16="http://schemas.microsoft.com/office/drawing/2014/main" id="{3278F10D-5034-C7F1-5F6D-4E2466A77C8F}"/>
                  </a:ext>
                </a:extLst>
              </p:cNvPr>
              <p:cNvSpPr txBox="1"/>
              <p:nvPr/>
            </p:nvSpPr>
            <p:spPr>
              <a:xfrm>
                <a:off x="1735854" y="3469521"/>
                <a:ext cx="356913" cy="369396"/>
              </a:xfrm>
              <a:prstGeom prst="rect">
                <a:avLst/>
              </a:prstGeom>
              <a:noFill/>
              <a:scene3d>
                <a:camera prst="orthographicFront"/>
                <a:lightRig rig="threePt" dir="t"/>
              </a:scene3d>
              <a:sp3d>
                <a:bevelT w="139700" prst="cross"/>
              </a:sp3d>
            </p:spPr>
            <p:txBody>
              <a:bodyPr wrap="none" rtlCol="0">
                <a:spAutoFit/>
              </a:bodyPr>
              <a:lstStyle/>
              <a:p>
                <a:r>
                  <a:rPr lang="en-US" sz="1400" dirty="0"/>
                  <a:t>1</a:t>
                </a:r>
              </a:p>
            </p:txBody>
          </p:sp>
          <p:sp>
            <p:nvSpPr>
              <p:cNvPr id="18" name="TextBox 17">
                <a:extLst>
                  <a:ext uri="{FF2B5EF4-FFF2-40B4-BE49-F238E27FC236}">
                    <a16:creationId xmlns:a16="http://schemas.microsoft.com/office/drawing/2014/main" id="{5F6776D7-9053-E9FC-588B-9110B79BA30C}"/>
                  </a:ext>
                </a:extLst>
              </p:cNvPr>
              <p:cNvSpPr txBox="1"/>
              <p:nvPr/>
            </p:nvSpPr>
            <p:spPr>
              <a:xfrm>
                <a:off x="1717922" y="2519075"/>
                <a:ext cx="356913" cy="369396"/>
              </a:xfrm>
              <a:prstGeom prst="rect">
                <a:avLst/>
              </a:prstGeom>
              <a:noFill/>
              <a:scene3d>
                <a:camera prst="orthographicFront"/>
                <a:lightRig rig="threePt" dir="t"/>
              </a:scene3d>
              <a:sp3d>
                <a:bevelT w="139700" prst="cross"/>
              </a:sp3d>
            </p:spPr>
            <p:txBody>
              <a:bodyPr wrap="none" rtlCol="0">
                <a:spAutoFit/>
              </a:bodyPr>
              <a:lstStyle/>
              <a:p>
                <a:r>
                  <a:rPr lang="en-US" sz="1400" dirty="0"/>
                  <a:t>0</a:t>
                </a:r>
              </a:p>
            </p:txBody>
          </p:sp>
          <p:sp>
            <p:nvSpPr>
              <p:cNvPr id="19" name="TextBox 18">
                <a:extLst>
                  <a:ext uri="{FF2B5EF4-FFF2-40B4-BE49-F238E27FC236}">
                    <a16:creationId xmlns:a16="http://schemas.microsoft.com/office/drawing/2014/main" id="{B48FD145-0967-B5E9-44B9-7FE25534DFB0}"/>
                  </a:ext>
                </a:extLst>
              </p:cNvPr>
              <p:cNvSpPr txBox="1"/>
              <p:nvPr/>
            </p:nvSpPr>
            <p:spPr>
              <a:xfrm>
                <a:off x="2267979" y="4376672"/>
                <a:ext cx="1775193" cy="369396"/>
              </a:xfrm>
              <a:prstGeom prst="rect">
                <a:avLst/>
              </a:prstGeom>
              <a:noFill/>
              <a:scene3d>
                <a:camera prst="orthographicFront"/>
                <a:lightRig rig="threePt" dir="t"/>
              </a:scene3d>
              <a:sp3d>
                <a:bevelT w="139700" prst="cross"/>
              </a:sp3d>
            </p:spPr>
            <p:txBody>
              <a:bodyPr wrap="none" rtlCol="0">
                <a:spAutoFit/>
              </a:bodyPr>
              <a:lstStyle/>
              <a:p>
                <a:r>
                  <a:rPr lang="en-US" sz="1400" dirty="0"/>
                  <a:t>Predicted Label</a:t>
                </a:r>
              </a:p>
            </p:txBody>
          </p:sp>
          <p:sp>
            <p:nvSpPr>
              <p:cNvPr id="20" name="TextBox 19">
                <a:extLst>
                  <a:ext uri="{FF2B5EF4-FFF2-40B4-BE49-F238E27FC236}">
                    <a16:creationId xmlns:a16="http://schemas.microsoft.com/office/drawing/2014/main" id="{A1B8CDC7-1B18-7DA7-E755-20DF8FD72975}"/>
                  </a:ext>
                </a:extLst>
              </p:cNvPr>
              <p:cNvSpPr txBox="1"/>
              <p:nvPr/>
            </p:nvSpPr>
            <p:spPr>
              <a:xfrm>
                <a:off x="3557337" y="4011231"/>
                <a:ext cx="356913" cy="369396"/>
              </a:xfrm>
              <a:prstGeom prst="rect">
                <a:avLst/>
              </a:prstGeom>
              <a:noFill/>
              <a:scene3d>
                <a:camera prst="orthographicFront"/>
                <a:lightRig rig="threePt" dir="t"/>
              </a:scene3d>
              <a:sp3d>
                <a:bevelT w="139700" prst="cross"/>
              </a:sp3d>
            </p:spPr>
            <p:txBody>
              <a:bodyPr wrap="none" rtlCol="0">
                <a:spAutoFit/>
              </a:bodyPr>
              <a:lstStyle/>
              <a:p>
                <a:r>
                  <a:rPr lang="en-US" sz="1400" dirty="0"/>
                  <a:t>1</a:t>
                </a:r>
              </a:p>
            </p:txBody>
          </p:sp>
          <p:sp>
            <p:nvSpPr>
              <p:cNvPr id="21" name="TextBox 20">
                <a:extLst>
                  <a:ext uri="{FF2B5EF4-FFF2-40B4-BE49-F238E27FC236}">
                    <a16:creationId xmlns:a16="http://schemas.microsoft.com/office/drawing/2014/main" id="{573FDB09-1809-667B-9708-7BF76B9804CC}"/>
                  </a:ext>
                </a:extLst>
              </p:cNvPr>
              <p:cNvSpPr txBox="1"/>
              <p:nvPr/>
            </p:nvSpPr>
            <p:spPr>
              <a:xfrm>
                <a:off x="2452589" y="4037898"/>
                <a:ext cx="356913" cy="369396"/>
              </a:xfrm>
              <a:prstGeom prst="rect">
                <a:avLst/>
              </a:prstGeom>
              <a:noFill/>
              <a:scene3d>
                <a:camera prst="orthographicFront"/>
                <a:lightRig rig="threePt" dir="t"/>
              </a:scene3d>
              <a:sp3d>
                <a:bevelT w="139700" prst="cross"/>
              </a:sp3d>
            </p:spPr>
            <p:txBody>
              <a:bodyPr wrap="none" rtlCol="0">
                <a:spAutoFit/>
              </a:bodyPr>
              <a:lstStyle/>
              <a:p>
                <a:r>
                  <a:rPr lang="en-US" sz="1400" dirty="0"/>
                  <a:t>0</a:t>
                </a:r>
              </a:p>
            </p:txBody>
          </p:sp>
        </p:grpSp>
        <p:sp>
          <p:nvSpPr>
            <p:cNvPr id="29" name="TextBox 28">
              <a:extLst>
                <a:ext uri="{FF2B5EF4-FFF2-40B4-BE49-F238E27FC236}">
                  <a16:creationId xmlns:a16="http://schemas.microsoft.com/office/drawing/2014/main" id="{BBE93AB4-DBC4-A325-B15C-A3281F9C454F}"/>
                </a:ext>
              </a:extLst>
            </p:cNvPr>
            <p:cNvSpPr txBox="1"/>
            <p:nvPr/>
          </p:nvSpPr>
          <p:spPr>
            <a:xfrm>
              <a:off x="4983401" y="3320127"/>
              <a:ext cx="2474780" cy="461665"/>
            </a:xfrm>
            <a:prstGeom prst="rect">
              <a:avLst/>
            </a:prstGeom>
            <a:noFill/>
          </p:spPr>
          <p:txBody>
            <a:bodyPr wrap="none" rtlCol="0">
              <a:spAutoFit/>
            </a:bodyPr>
            <a:lstStyle/>
            <a:p>
              <a:r>
                <a:rPr lang="en-US" sz="1200" b="1" dirty="0"/>
                <a:t>Confusion Matrix (Validation Set)</a:t>
              </a:r>
              <a:endParaRPr lang="en-US" sz="1200" dirty="0"/>
            </a:p>
            <a:p>
              <a:endParaRPr lang="en-US" sz="1200" dirty="0"/>
            </a:p>
          </p:txBody>
        </p:sp>
      </p:grpSp>
    </p:spTree>
    <p:extLst>
      <p:ext uri="{BB962C8B-B14F-4D97-AF65-F5344CB8AC3E}">
        <p14:creationId xmlns:p14="http://schemas.microsoft.com/office/powerpoint/2010/main" val="384224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5A0DF-BD0C-1177-8369-AD071901A284}"/>
              </a:ext>
            </a:extLst>
          </p:cNvPr>
          <p:cNvSpPr>
            <a:spLocks noGrp="1"/>
          </p:cNvSpPr>
          <p:nvPr>
            <p:ph type="title"/>
          </p:nvPr>
        </p:nvSpPr>
        <p:spPr>
          <a:xfrm>
            <a:off x="6719047" y="1243666"/>
            <a:ext cx="10515600" cy="1325563"/>
          </a:xfrm>
        </p:spPr>
        <p:txBody>
          <a:bodyPr/>
          <a:lstStyle/>
          <a:p>
            <a:br>
              <a:rPr lang="en-US" dirty="0"/>
            </a:br>
            <a:r>
              <a:rPr lang="en-US" dirty="0"/>
              <a:t>Thank you!</a:t>
            </a:r>
          </a:p>
        </p:txBody>
      </p:sp>
      <p:sp>
        <p:nvSpPr>
          <p:cNvPr id="3" name="Footer Placeholder 2">
            <a:extLst>
              <a:ext uri="{FF2B5EF4-FFF2-40B4-BE49-F238E27FC236}">
                <a16:creationId xmlns:a16="http://schemas.microsoft.com/office/drawing/2014/main" id="{66711BF7-BBDF-63A3-EC8A-8F9A480895AF}"/>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9C9EAFBB-F5A1-29BB-AD8F-2CBB7B8DF776}"/>
              </a:ext>
            </a:extLst>
          </p:cNvPr>
          <p:cNvSpPr>
            <a:spLocks noGrp="1"/>
          </p:cNvSpPr>
          <p:nvPr>
            <p:ph type="sldNum" sz="quarter" idx="12"/>
          </p:nvPr>
        </p:nvSpPr>
        <p:spPr/>
        <p:txBody>
          <a:bodyPr/>
          <a:lstStyle/>
          <a:p>
            <a:fld id="{BF1758FF-0BF1-4103-A89A-38EC40E85429}" type="slidenum">
              <a:rPr lang="en-SG" smtClean="0"/>
              <a:t>12</a:t>
            </a:fld>
            <a:endParaRPr lang="en-SG"/>
          </a:p>
        </p:txBody>
      </p:sp>
    </p:spTree>
    <p:extLst>
      <p:ext uri="{BB962C8B-B14F-4D97-AF65-F5344CB8AC3E}">
        <p14:creationId xmlns:p14="http://schemas.microsoft.com/office/powerpoint/2010/main" val="3486386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F4A66993F69444994DEDC68916C527" ma:contentTypeVersion="11" ma:contentTypeDescription="Create a new document." ma:contentTypeScope="" ma:versionID="6d8c83a6efd5471423dade757e33b483">
  <xsd:schema xmlns:xsd="http://www.w3.org/2001/XMLSchema" xmlns:xs="http://www.w3.org/2001/XMLSchema" xmlns:p="http://schemas.microsoft.com/office/2006/metadata/properties" xmlns:ns2="9942508b-7edd-4522-9099-5c8ba2e58c2d" xmlns:ns3="61a53e6c-53f2-4709-838c-32a07fa7348c" targetNamespace="http://schemas.microsoft.com/office/2006/metadata/properties" ma:root="true" ma:fieldsID="d068a04341d57602b07eae7b1ca693d1" ns2:_="" ns3:_="">
    <xsd:import namespace="9942508b-7edd-4522-9099-5c8ba2e58c2d"/>
    <xsd:import namespace="61a53e6c-53f2-4709-838c-32a07fa7348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42508b-7edd-4522-9099-5c8ba2e58c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eae8b99-2390-486d-8259-3a0fa512046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a53e6c-53f2-4709-838c-32a07fa7348c"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216e331-96ca-4cab-bbd1-11c69f7e2d61}" ma:internalName="TaxCatchAll" ma:showField="CatchAllData" ma:web="61a53e6c-53f2-4709-838c-32a07fa734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1a53e6c-53f2-4709-838c-32a07fa7348c" xsi:nil="true"/>
    <lcf76f155ced4ddcb4097134ff3c332f xmlns="9942508b-7edd-4522-9099-5c8ba2e58c2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374323E-7AF1-410A-ADFC-B6F59135825E}">
  <ds:schemaRefs>
    <ds:schemaRef ds:uri="61a53e6c-53f2-4709-838c-32a07fa7348c"/>
    <ds:schemaRef ds:uri="9942508b-7edd-4522-9099-5c8ba2e58c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CA2CD0-1824-491F-9AFA-03C38DCE2951}">
  <ds:schemaRefs>
    <ds:schemaRef ds:uri="http://schemas.microsoft.com/sharepoint/v3/contenttype/forms"/>
  </ds:schemaRefs>
</ds:datastoreItem>
</file>

<file path=customXml/itemProps3.xml><?xml version="1.0" encoding="utf-8"?>
<ds:datastoreItem xmlns:ds="http://schemas.openxmlformats.org/officeDocument/2006/customXml" ds:itemID="{1D1A3A37-9007-4EC4-8746-B27BB5C6B1BE}">
  <ds:schemaRefs>
    <ds:schemaRef ds:uri="61a53e6c-53f2-4709-838c-32a07fa7348c"/>
    <ds:schemaRef ds:uri="9942508b-7edd-4522-9099-5c8ba2e58c2d"/>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279</TotalTime>
  <Words>1730</Words>
  <Application>Microsoft Office PowerPoint</Application>
  <PresentationFormat>Widescreen</PresentationFormat>
  <Paragraphs>248</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Arial Nova</vt:lpstr>
      <vt:lpstr>Calibri</vt:lpstr>
      <vt:lpstr>Roboto</vt:lpstr>
      <vt:lpstr>Office Theme</vt:lpstr>
      <vt:lpstr>PowerPoint Presentation</vt:lpstr>
      <vt:lpstr>PowerPoint Presentation</vt:lpstr>
      <vt:lpstr>Problem Definition (Clustering + Prediction)</vt:lpstr>
      <vt:lpstr>Data Collection and Preparation</vt:lpstr>
      <vt:lpstr>EDA for Fuel Prediction</vt:lpstr>
      <vt:lpstr>Model Selection and Model Performance</vt:lpstr>
      <vt:lpstr>Exploratory Data Analysis for Clustering</vt:lpstr>
      <vt:lpstr>Driver Behavior Classification Pipeline</vt:lpstr>
      <vt:lpstr>Pseudo-label generation</vt:lpstr>
      <vt:lpstr>Supervised Learning</vt:lpstr>
      <vt:lpstr>Performance  Aggressive vs Non-Aggressive Driving  (XGBoost Classifier)</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Pandarasamy Arjunan</dc:creator>
  <cp:lastModifiedBy>Sarveshwaran N (MS/EFX31-BEG)</cp:lastModifiedBy>
  <cp:revision>43</cp:revision>
  <dcterms:created xsi:type="dcterms:W3CDTF">2023-08-01T07:21:01Z</dcterms:created>
  <dcterms:modified xsi:type="dcterms:W3CDTF">2025-12-02T10:08:39Z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0x0101000CF4A66993F69444994DEDC68916C527</vt:lpwstr>
  </property>
  <property fmtid="{D5CDD505-2E9C-101B-9397-08002B2CF9AE}" pid="3" name="MediaServiceImageTags">
    <vt:lpwstr/>
  </property>
</Properties>
</file>